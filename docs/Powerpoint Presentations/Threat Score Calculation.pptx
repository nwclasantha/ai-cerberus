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626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ngineering.salesforce.com/77893317c0bf20ca109f890a0a430d47fbff050f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10504" b="1050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88620" y="547211"/>
            <a:ext cx="3501390" cy="510540"/>
          </a:xfrm>
          <a:custGeom>
            <a:avLst/>
            <a:gdLst/>
            <a:ahLst/>
            <a:cxnLst/>
            <a:rect l="l" t="t" r="r" b="b"/>
            <a:pathLst>
              <a:path w="3501390" h="510540">
                <a:moveTo>
                  <a:pt x="76198" y="0"/>
                </a:moveTo>
                <a:lnTo>
                  <a:pt x="3425192" y="0"/>
                </a:lnTo>
                <a:cubicBezTo>
                  <a:pt x="3467275" y="0"/>
                  <a:pt x="3501390" y="34115"/>
                  <a:pt x="3501390" y="76198"/>
                </a:cubicBezTo>
                <a:lnTo>
                  <a:pt x="3501390" y="434342"/>
                </a:lnTo>
                <a:cubicBezTo>
                  <a:pt x="3501390" y="476425"/>
                  <a:pt x="3467275" y="510540"/>
                  <a:pt x="3425192" y="510540"/>
                </a:cubicBezTo>
                <a:lnTo>
                  <a:pt x="76198" y="510540"/>
                </a:lnTo>
                <a:cubicBezTo>
                  <a:pt x="34115" y="510540"/>
                  <a:pt x="0" y="476425"/>
                  <a:pt x="0" y="43434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2032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24840" y="691991"/>
            <a:ext cx="312634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15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FRAMEWORK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70171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Score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60971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81000" y="432292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Framework for Cybersecurity Threat Assessment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0880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5306" y="58707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43000" y="5708809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ANALYSIS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97550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Components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16141" y="570880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616166" y="587073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53578" y="35719"/>
                </a:moveTo>
                <a:lnTo>
                  <a:pt x="160734" y="35719"/>
                </a:lnTo>
                <a:cubicBezTo>
                  <a:pt x="170613" y="35719"/>
                  <a:pt x="178594" y="43700"/>
                  <a:pt x="178594" y="53578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53578" y="89297"/>
                </a:lnTo>
                <a:cubicBezTo>
                  <a:pt x="43700" y="89297"/>
                  <a:pt x="35719" y="81316"/>
                  <a:pt x="35719" y="71438"/>
                </a:cubicBezTo>
                <a:lnTo>
                  <a:pt x="35719" y="53578"/>
                </a:lnTo>
                <a:cubicBezTo>
                  <a:pt x="35719" y="43700"/>
                  <a:pt x="43700" y="35719"/>
                  <a:pt x="53578" y="35719"/>
                </a:cubicBezTo>
                <a:close/>
                <a:moveTo>
                  <a:pt x="62508" y="129480"/>
                </a:moveTo>
                <a:cubicBezTo>
                  <a:pt x="62508" y="136873"/>
                  <a:pt x="56506" y="142875"/>
                  <a:pt x="49113" y="142875"/>
                </a:cubicBezTo>
                <a:cubicBezTo>
                  <a:pt x="41721" y="142875"/>
                  <a:pt x="35719" y="136873"/>
                  <a:pt x="35719" y="129480"/>
                </a:cubicBezTo>
                <a:cubicBezTo>
                  <a:pt x="35719" y="122088"/>
                  <a:pt x="41721" y="116086"/>
                  <a:pt x="49113" y="116086"/>
                </a:cubicBezTo>
                <a:cubicBezTo>
                  <a:pt x="56506" y="116086"/>
                  <a:pt x="62508" y="122088"/>
                  <a:pt x="62508" y="129480"/>
                </a:cubicBezTo>
                <a:close/>
                <a:moveTo>
                  <a:pt x="107156" y="142875"/>
                </a:moveTo>
                <a:cubicBezTo>
                  <a:pt x="99764" y="142875"/>
                  <a:pt x="93762" y="136873"/>
                  <a:pt x="93762" y="129480"/>
                </a:cubicBezTo>
                <a:cubicBezTo>
                  <a:pt x="93762" y="122088"/>
                  <a:pt x="99764" y="116086"/>
                  <a:pt x="107156" y="116086"/>
                </a:cubicBezTo>
                <a:cubicBezTo>
                  <a:pt x="114549" y="116086"/>
                  <a:pt x="120551" y="122088"/>
                  <a:pt x="120551" y="129480"/>
                </a:cubicBezTo>
                <a:cubicBezTo>
                  <a:pt x="120551" y="136873"/>
                  <a:pt x="114549" y="142875"/>
                  <a:pt x="107156" y="142875"/>
                </a:cubicBezTo>
                <a:close/>
                <a:moveTo>
                  <a:pt x="178594" y="129480"/>
                </a:moveTo>
                <a:cubicBezTo>
                  <a:pt x="178594" y="136873"/>
                  <a:pt x="172592" y="142875"/>
                  <a:pt x="165199" y="142875"/>
                </a:cubicBezTo>
                <a:cubicBezTo>
                  <a:pt x="157807" y="142875"/>
                  <a:pt x="151805" y="136873"/>
                  <a:pt x="151805" y="129480"/>
                </a:cubicBezTo>
                <a:cubicBezTo>
                  <a:pt x="151805" y="122088"/>
                  <a:pt x="157807" y="116086"/>
                  <a:pt x="165199" y="116086"/>
                </a:cubicBezTo>
                <a:cubicBezTo>
                  <a:pt x="172592" y="116086"/>
                  <a:pt x="178594" y="122088"/>
                  <a:pt x="178594" y="129480"/>
                </a:cubicBezTo>
                <a:close/>
                <a:moveTo>
                  <a:pt x="49113" y="196453"/>
                </a:moveTo>
                <a:cubicBezTo>
                  <a:pt x="41721" y="196453"/>
                  <a:pt x="35719" y="190451"/>
                  <a:pt x="35719" y="183059"/>
                </a:cubicBezTo>
                <a:cubicBezTo>
                  <a:pt x="35719" y="175666"/>
                  <a:pt x="41721" y="169664"/>
                  <a:pt x="49113" y="169664"/>
                </a:cubicBezTo>
                <a:cubicBezTo>
                  <a:pt x="56506" y="169664"/>
                  <a:pt x="62508" y="175666"/>
                  <a:pt x="62508" y="183059"/>
                </a:cubicBezTo>
                <a:cubicBezTo>
                  <a:pt x="62508" y="190451"/>
                  <a:pt x="56506" y="196453"/>
                  <a:pt x="49113" y="196453"/>
                </a:cubicBezTo>
                <a:close/>
                <a:moveTo>
                  <a:pt x="120551" y="183059"/>
                </a:moveTo>
                <a:cubicBezTo>
                  <a:pt x="120551" y="190451"/>
                  <a:pt x="114549" y="196453"/>
                  <a:pt x="107156" y="196453"/>
                </a:cubicBezTo>
                <a:cubicBezTo>
                  <a:pt x="99764" y="196453"/>
                  <a:pt x="93762" y="190451"/>
                  <a:pt x="93762" y="183059"/>
                </a:cubicBezTo>
                <a:cubicBezTo>
                  <a:pt x="93762" y="175666"/>
                  <a:pt x="99764" y="169664"/>
                  <a:pt x="107156" y="169664"/>
                </a:cubicBezTo>
                <a:cubicBezTo>
                  <a:pt x="114549" y="169664"/>
                  <a:pt x="120551" y="175666"/>
                  <a:pt x="120551" y="183059"/>
                </a:cubicBezTo>
                <a:close/>
                <a:moveTo>
                  <a:pt x="165199" y="196453"/>
                </a:moveTo>
                <a:cubicBezTo>
                  <a:pt x="157807" y="196453"/>
                  <a:pt x="151805" y="190451"/>
                  <a:pt x="151805" y="183059"/>
                </a:cubicBezTo>
                <a:cubicBezTo>
                  <a:pt x="151805" y="175666"/>
                  <a:pt x="157807" y="169664"/>
                  <a:pt x="165199" y="169664"/>
                </a:cubicBezTo>
                <a:cubicBezTo>
                  <a:pt x="172592" y="169664"/>
                  <a:pt x="178594" y="175666"/>
                  <a:pt x="178594" y="183059"/>
                </a:cubicBezTo>
                <a:cubicBezTo>
                  <a:pt x="178594" y="190451"/>
                  <a:pt x="172592" y="196453"/>
                  <a:pt x="165199" y="196453"/>
                </a:cubicBezTo>
                <a:close/>
                <a:moveTo>
                  <a:pt x="35719" y="236637"/>
                </a:moveTo>
                <a:cubicBezTo>
                  <a:pt x="35719" y="229214"/>
                  <a:pt x="41690" y="223242"/>
                  <a:pt x="49113" y="223242"/>
                </a:cubicBezTo>
                <a:lnTo>
                  <a:pt x="111621" y="223242"/>
                </a:lnTo>
                <a:cubicBezTo>
                  <a:pt x="119044" y="223242"/>
                  <a:pt x="125016" y="229214"/>
                  <a:pt x="125016" y="236637"/>
                </a:cubicBezTo>
                <a:cubicBezTo>
                  <a:pt x="125016" y="244060"/>
                  <a:pt x="119044" y="250031"/>
                  <a:pt x="111621" y="250031"/>
                </a:cubicBezTo>
                <a:lnTo>
                  <a:pt x="49113" y="250031"/>
                </a:lnTo>
                <a:cubicBezTo>
                  <a:pt x="41690" y="250031"/>
                  <a:pt x="35719" y="244060"/>
                  <a:pt x="35719" y="236637"/>
                </a:cubicBezTo>
                <a:close/>
                <a:moveTo>
                  <a:pt x="165199" y="223242"/>
                </a:moveTo>
                <a:cubicBezTo>
                  <a:pt x="172622" y="223242"/>
                  <a:pt x="178594" y="229214"/>
                  <a:pt x="178594" y="236637"/>
                </a:cubicBezTo>
                <a:cubicBezTo>
                  <a:pt x="178594" y="244060"/>
                  <a:pt x="172622" y="250031"/>
                  <a:pt x="165199" y="250031"/>
                </a:cubicBezTo>
                <a:cubicBezTo>
                  <a:pt x="157776" y="250031"/>
                  <a:pt x="151805" y="244060"/>
                  <a:pt x="151805" y="236637"/>
                </a:cubicBezTo>
                <a:cubicBezTo>
                  <a:pt x="151805" y="229214"/>
                  <a:pt x="157776" y="223242"/>
                  <a:pt x="165199" y="22324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178141" y="570880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RANGE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78141" y="5975509"/>
            <a:ext cx="1743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Points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Scoring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0"/>
            <a:ext cx="6732270" cy="2341245"/>
          </a:xfrm>
          <a:custGeom>
            <a:avLst/>
            <a:gdLst/>
            <a:ahLst/>
            <a:cxnLst/>
            <a:rect l="l" t="t" r="r" b="b"/>
            <a:pathLst>
              <a:path w="6732270" h="2341245">
                <a:moveTo>
                  <a:pt x="76208" y="0"/>
                </a:moveTo>
                <a:lnTo>
                  <a:pt x="6656062" y="0"/>
                </a:lnTo>
                <a:cubicBezTo>
                  <a:pt x="6698151" y="0"/>
                  <a:pt x="6732270" y="34119"/>
                  <a:pt x="6732270" y="76208"/>
                </a:cubicBezTo>
                <a:lnTo>
                  <a:pt x="6732270" y="2265037"/>
                </a:lnTo>
                <a:cubicBezTo>
                  <a:pt x="6732270" y="2307126"/>
                  <a:pt x="6698151" y="2341245"/>
                  <a:pt x="6656062" y="2341245"/>
                </a:cubicBezTo>
                <a:lnTo>
                  <a:pt x="76208" y="2341245"/>
                </a:lnTo>
                <a:cubicBezTo>
                  <a:pt x="34119" y="2341245"/>
                  <a:pt x="0" y="2307126"/>
                  <a:pt x="0" y="226503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1020" y="1455420"/>
            <a:ext cx="65055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Threat Score Calculation system aggregates </a:t>
            </a:r>
            <a:r>
              <a:rPr lang="en-US" sz="13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critical security indicators</a:t>
            </a: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unified scoring framework, providing comprehensive assessment of potential threats through multi-layered analysis.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830" y="2447449"/>
            <a:ext cx="2055495" cy="1036320"/>
          </a:xfrm>
          <a:custGeom>
            <a:avLst/>
            <a:gdLst/>
            <a:ahLst/>
            <a:cxnLst/>
            <a:rect l="l" t="t" r="r" b="b"/>
            <a:pathLst>
              <a:path w="2055495" h="1036320">
                <a:moveTo>
                  <a:pt x="76201" y="0"/>
                </a:moveTo>
                <a:lnTo>
                  <a:pt x="1979294" y="0"/>
                </a:lnTo>
                <a:cubicBezTo>
                  <a:pt x="2021379" y="0"/>
                  <a:pt x="2055495" y="34116"/>
                  <a:pt x="2055495" y="76201"/>
                </a:cubicBezTo>
                <a:lnTo>
                  <a:pt x="2055495" y="960119"/>
                </a:lnTo>
                <a:cubicBezTo>
                  <a:pt x="2055495" y="1002204"/>
                  <a:pt x="2021379" y="1036320"/>
                  <a:pt x="1979294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62940" y="256555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170+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" y="2946559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3175159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24150" y="2447449"/>
            <a:ext cx="2055495" cy="1036320"/>
          </a:xfrm>
          <a:custGeom>
            <a:avLst/>
            <a:gdLst/>
            <a:ahLst/>
            <a:cxnLst/>
            <a:rect l="l" t="t" r="r" b="b"/>
            <a:pathLst>
              <a:path w="2055495" h="1036320">
                <a:moveTo>
                  <a:pt x="76201" y="0"/>
                </a:moveTo>
                <a:lnTo>
                  <a:pt x="1979294" y="0"/>
                </a:lnTo>
                <a:cubicBezTo>
                  <a:pt x="2021379" y="0"/>
                  <a:pt x="2055495" y="34116"/>
                  <a:pt x="2055495" y="76201"/>
                </a:cubicBezTo>
                <a:lnTo>
                  <a:pt x="2055495" y="960119"/>
                </a:lnTo>
                <a:cubicBezTo>
                  <a:pt x="2055495" y="1002204"/>
                  <a:pt x="2021379" y="1036320"/>
                  <a:pt x="1979294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842260" y="256555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42260" y="2946559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Capped 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42260" y="3175159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03470" y="2447449"/>
            <a:ext cx="2055495" cy="1036320"/>
          </a:xfrm>
          <a:custGeom>
            <a:avLst/>
            <a:gdLst/>
            <a:ahLst/>
            <a:cxnLst/>
            <a:rect l="l" t="t" r="r" b="b"/>
            <a:pathLst>
              <a:path w="2055495" h="1036320">
                <a:moveTo>
                  <a:pt x="76201" y="0"/>
                </a:moveTo>
                <a:lnTo>
                  <a:pt x="1979294" y="0"/>
                </a:lnTo>
                <a:cubicBezTo>
                  <a:pt x="2021379" y="0"/>
                  <a:pt x="2055495" y="34116"/>
                  <a:pt x="2055495" y="76201"/>
                </a:cubicBezTo>
                <a:lnTo>
                  <a:pt x="2055495" y="960119"/>
                </a:lnTo>
                <a:cubicBezTo>
                  <a:pt x="2055495" y="1002204"/>
                  <a:pt x="2021379" y="1036320"/>
                  <a:pt x="1979294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1580" y="256555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1580" y="2946559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1580" y="3175159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761899"/>
            <a:ext cx="3295650" cy="1409700"/>
          </a:xfrm>
          <a:custGeom>
            <a:avLst/>
            <a:gdLst/>
            <a:ahLst/>
            <a:cxnLst/>
            <a:rect l="l" t="t" r="r" b="b"/>
            <a:pathLst>
              <a:path w="3295650" h="1409700">
                <a:moveTo>
                  <a:pt x="0" y="0"/>
                </a:moveTo>
                <a:lnTo>
                  <a:pt x="3295650" y="0"/>
                </a:lnTo>
                <a:lnTo>
                  <a:pt x="32956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00050" y="3761899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33400" y="391429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71438" y="47625"/>
                </a:moveTo>
                <a:cubicBezTo>
                  <a:pt x="71438" y="41039"/>
                  <a:pt x="76758" y="35719"/>
                  <a:pt x="83344" y="35719"/>
                </a:cubicBezTo>
                <a:cubicBezTo>
                  <a:pt x="89929" y="35719"/>
                  <a:pt x="95250" y="41039"/>
                  <a:pt x="95250" y="47625"/>
                </a:cubicBezTo>
                <a:lnTo>
                  <a:pt x="95250" y="50527"/>
                </a:lnTo>
                <a:cubicBezTo>
                  <a:pt x="95250" y="60833"/>
                  <a:pt x="94357" y="71103"/>
                  <a:pt x="92608" y="81223"/>
                </a:cubicBezTo>
                <a:lnTo>
                  <a:pt x="61206" y="90636"/>
                </a:lnTo>
                <a:cubicBezTo>
                  <a:pt x="46100" y="95176"/>
                  <a:pt x="35756" y="109091"/>
                  <a:pt x="35756" y="124867"/>
                </a:cubicBezTo>
                <a:lnTo>
                  <a:pt x="35756" y="136922"/>
                </a:lnTo>
                <a:lnTo>
                  <a:pt x="8967" y="136922"/>
                </a:lnTo>
                <a:cubicBezTo>
                  <a:pt x="4018" y="136922"/>
                  <a:pt x="37" y="140903"/>
                  <a:pt x="37" y="145852"/>
                </a:cubicBezTo>
                <a:cubicBezTo>
                  <a:pt x="37" y="150800"/>
                  <a:pt x="4018" y="154781"/>
                  <a:pt x="8967" y="154781"/>
                </a:cubicBezTo>
                <a:lnTo>
                  <a:pt x="35942" y="154781"/>
                </a:lnTo>
                <a:cubicBezTo>
                  <a:pt x="37505" y="168176"/>
                  <a:pt x="48890" y="178594"/>
                  <a:pt x="62731" y="178594"/>
                </a:cubicBezTo>
                <a:cubicBezTo>
                  <a:pt x="72405" y="178594"/>
                  <a:pt x="81335" y="173422"/>
                  <a:pt x="86134" y="165013"/>
                </a:cubicBezTo>
                <a:lnTo>
                  <a:pt x="91306" y="155972"/>
                </a:lnTo>
                <a:cubicBezTo>
                  <a:pt x="101278" y="138485"/>
                  <a:pt x="108607" y="119621"/>
                  <a:pt x="113035" y="99975"/>
                </a:cubicBezTo>
                <a:lnTo>
                  <a:pt x="148158" y="89446"/>
                </a:lnTo>
                <a:lnTo>
                  <a:pt x="143508" y="103398"/>
                </a:lnTo>
                <a:cubicBezTo>
                  <a:pt x="142280" y="107045"/>
                  <a:pt x="142912" y="111026"/>
                  <a:pt x="145145" y="114114"/>
                </a:cubicBezTo>
                <a:cubicBezTo>
                  <a:pt x="147377" y="117202"/>
                  <a:pt x="150949" y="119063"/>
                  <a:pt x="154781" y="119063"/>
                </a:cubicBezTo>
                <a:lnTo>
                  <a:pt x="202406" y="119063"/>
                </a:lnTo>
                <a:cubicBezTo>
                  <a:pt x="208992" y="119063"/>
                  <a:pt x="214313" y="113742"/>
                  <a:pt x="214313" y="107156"/>
                </a:cubicBezTo>
                <a:cubicBezTo>
                  <a:pt x="214313" y="100571"/>
                  <a:pt x="208992" y="95250"/>
                  <a:pt x="202406" y="95250"/>
                </a:cubicBezTo>
                <a:lnTo>
                  <a:pt x="171301" y="95250"/>
                </a:lnTo>
                <a:lnTo>
                  <a:pt x="177998" y="75195"/>
                </a:lnTo>
                <a:cubicBezTo>
                  <a:pt x="179412" y="70991"/>
                  <a:pt x="178333" y="66340"/>
                  <a:pt x="175245" y="63140"/>
                </a:cubicBezTo>
                <a:cubicBezTo>
                  <a:pt x="172157" y="59941"/>
                  <a:pt x="167543" y="58750"/>
                  <a:pt x="163264" y="60015"/>
                </a:cubicBezTo>
                <a:lnTo>
                  <a:pt x="117723" y="73707"/>
                </a:lnTo>
                <a:cubicBezTo>
                  <a:pt x="118616" y="66005"/>
                  <a:pt x="119063" y="58303"/>
                  <a:pt x="119063" y="50527"/>
                </a:cubicBezTo>
                <a:lnTo>
                  <a:pt x="119063" y="47625"/>
                </a:lnTo>
                <a:cubicBezTo>
                  <a:pt x="119063" y="27905"/>
                  <a:pt x="103063" y="11906"/>
                  <a:pt x="83344" y="11906"/>
                </a:cubicBezTo>
                <a:cubicBezTo>
                  <a:pt x="63624" y="11906"/>
                  <a:pt x="47625" y="27905"/>
                  <a:pt x="47625" y="47625"/>
                </a:cubicBezTo>
                <a:lnTo>
                  <a:pt x="47625" y="59531"/>
                </a:lnTo>
                <a:cubicBezTo>
                  <a:pt x="47625" y="66117"/>
                  <a:pt x="52946" y="71438"/>
                  <a:pt x="59531" y="71438"/>
                </a:cubicBezTo>
                <a:cubicBezTo>
                  <a:pt x="66117" y="71438"/>
                  <a:pt x="71438" y="66117"/>
                  <a:pt x="71438" y="59531"/>
                </a:cubicBezTo>
                <a:lnTo>
                  <a:pt x="71438" y="47625"/>
                </a:lnTo>
                <a:close/>
                <a:moveTo>
                  <a:pt x="68014" y="113481"/>
                </a:moveTo>
                <a:lnTo>
                  <a:pt x="86246" y="108012"/>
                </a:lnTo>
                <a:cubicBezTo>
                  <a:pt x="82376" y="120588"/>
                  <a:pt x="77130" y="132717"/>
                  <a:pt x="70582" y="144177"/>
                </a:cubicBezTo>
                <a:lnTo>
                  <a:pt x="65410" y="153219"/>
                </a:lnTo>
                <a:cubicBezTo>
                  <a:pt x="64852" y="154186"/>
                  <a:pt x="63810" y="154818"/>
                  <a:pt x="62657" y="154818"/>
                </a:cubicBezTo>
                <a:cubicBezTo>
                  <a:pt x="60908" y="154818"/>
                  <a:pt x="59494" y="153405"/>
                  <a:pt x="59494" y="151656"/>
                </a:cubicBezTo>
                <a:lnTo>
                  <a:pt x="59494" y="124904"/>
                </a:lnTo>
                <a:cubicBezTo>
                  <a:pt x="59494" y="119658"/>
                  <a:pt x="62954" y="115007"/>
                  <a:pt x="67977" y="113481"/>
                </a:cubicBezTo>
                <a:close/>
                <a:moveTo>
                  <a:pt x="229195" y="154781"/>
                </a:moveTo>
                <a:cubicBezTo>
                  <a:pt x="234144" y="154781"/>
                  <a:pt x="238125" y="150800"/>
                  <a:pt x="238125" y="145852"/>
                </a:cubicBezTo>
                <a:cubicBezTo>
                  <a:pt x="238125" y="140903"/>
                  <a:pt x="234144" y="136922"/>
                  <a:pt x="229195" y="136922"/>
                </a:cubicBezTo>
                <a:lnTo>
                  <a:pt x="120216" y="136922"/>
                </a:lnTo>
                <a:cubicBezTo>
                  <a:pt x="117797" y="142987"/>
                  <a:pt x="115119" y="148940"/>
                  <a:pt x="112179" y="154781"/>
                </a:cubicBezTo>
                <a:lnTo>
                  <a:pt x="229195" y="154781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47725" y="3876199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Signature-Based Detection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" y="4219099"/>
            <a:ext cx="312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rules provide pattern matching against known threat signatures, with scoring weighted by severity levels from critical to low.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29050" y="3761899"/>
            <a:ext cx="3295650" cy="1409700"/>
          </a:xfrm>
          <a:custGeom>
            <a:avLst/>
            <a:gdLst/>
            <a:ahLst/>
            <a:cxnLst/>
            <a:rect l="l" t="t" r="r" b="b"/>
            <a:pathLst>
              <a:path w="3295650" h="1409700">
                <a:moveTo>
                  <a:pt x="0" y="0"/>
                </a:moveTo>
                <a:lnTo>
                  <a:pt x="3295650" y="0"/>
                </a:lnTo>
                <a:lnTo>
                  <a:pt x="32956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829050" y="3761899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986213" y="39142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276725" y="3876199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62400" y="4219099"/>
            <a:ext cx="312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monitoring tracks runtime activities, system modifications, and network communications to identify malicious behavior patterns.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285899"/>
            <a:ext cx="3295650" cy="1200150"/>
          </a:xfrm>
          <a:custGeom>
            <a:avLst/>
            <a:gdLst/>
            <a:ahLst/>
            <a:cxnLst/>
            <a:rect l="l" t="t" r="r" b="b"/>
            <a:pathLst>
              <a:path w="3295650" h="1200150">
                <a:moveTo>
                  <a:pt x="0" y="0"/>
                </a:moveTo>
                <a:lnTo>
                  <a:pt x="3295650" y="0"/>
                </a:lnTo>
                <a:lnTo>
                  <a:pt x="32956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00050" y="5285899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57213" y="54382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47725" y="5400199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3400" y="5743099"/>
            <a:ext cx="3124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classification analyzes file characteristics and behavioral patterns to identify previously unknown threats with confidence scoring.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29050" y="5285899"/>
            <a:ext cx="3295650" cy="1200150"/>
          </a:xfrm>
          <a:custGeom>
            <a:avLst/>
            <a:gdLst/>
            <a:ahLst/>
            <a:cxnLst/>
            <a:rect l="l" t="t" r="r" b="b"/>
            <a:pathLst>
              <a:path w="3295650" h="1200150">
                <a:moveTo>
                  <a:pt x="0" y="0"/>
                </a:moveTo>
                <a:lnTo>
                  <a:pt x="3295650" y="0"/>
                </a:lnTo>
                <a:lnTo>
                  <a:pt x="32956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829050" y="5285899"/>
            <a:ext cx="38100" cy="1200150"/>
          </a:xfrm>
          <a:custGeom>
            <a:avLst/>
            <a:gdLst/>
            <a:ahLst/>
            <a:cxnLst/>
            <a:rect l="l" t="t" r="r" b="b"/>
            <a:pathLst>
              <a:path w="38100" h="1200150">
                <a:moveTo>
                  <a:pt x="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986213" y="54382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276725" y="5400199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62400" y="5743099"/>
            <a:ext cx="3124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 integration leverages collective threat intelligence from multiple security vendors to enhance detection accuracy.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9010" y="1299210"/>
            <a:ext cx="4484370" cy="3074670"/>
          </a:xfrm>
          <a:custGeom>
            <a:avLst/>
            <a:gdLst/>
            <a:ahLst/>
            <a:cxnLst/>
            <a:rect l="l" t="t" r="r" b="b"/>
            <a:pathLst>
              <a:path w="4484370" h="3074670">
                <a:moveTo>
                  <a:pt x="76190" y="0"/>
                </a:moveTo>
                <a:lnTo>
                  <a:pt x="4408180" y="0"/>
                </a:lnTo>
                <a:cubicBezTo>
                  <a:pt x="4450258" y="0"/>
                  <a:pt x="4484370" y="34112"/>
                  <a:pt x="4484370" y="76190"/>
                </a:cubicBezTo>
                <a:lnTo>
                  <a:pt x="4484370" y="2998480"/>
                </a:lnTo>
                <a:cubicBezTo>
                  <a:pt x="4484370" y="3040558"/>
                  <a:pt x="4450258" y="3074670"/>
                  <a:pt x="4408180" y="3074670"/>
                </a:cubicBezTo>
                <a:lnTo>
                  <a:pt x="76190" y="3074670"/>
                </a:lnTo>
                <a:cubicBezTo>
                  <a:pt x="34112" y="3074670"/>
                  <a:pt x="0" y="3040558"/>
                  <a:pt x="0" y="299848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427595" y="145542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Distribution</a:t>
            </a:r>
            <a:endParaRPr lang="en-US" sz="1600" dirty="0"/>
          </a:p>
        </p:txBody>
      </p:sp>
      <p:pic>
        <p:nvPicPr>
          <p:cNvPr id="41" name="Image 0" descr="https://kimi-img.moonshot.cn/pub/slides/26-01-16-22:54:31-d5l529qej2di16v7e690.png"/>
          <p:cNvPicPr>
            <a:picLocks noChangeAspect="1"/>
          </p:cNvPicPr>
          <p:nvPr/>
        </p:nvPicPr>
        <p:blipFill>
          <a:blip r:embed="rId3"/>
          <a:srcRect l="34" r="34"/>
          <a:stretch/>
        </p:blipFill>
        <p:spPr>
          <a:xfrm>
            <a:off x="7475220" y="1836420"/>
            <a:ext cx="4171950" cy="2381250"/>
          </a:xfrm>
          <a:prstGeom prst="roundRect">
            <a:avLst>
              <a:gd name="adj" fmla="val 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7319010" y="4495800"/>
            <a:ext cx="4484370" cy="2179320"/>
          </a:xfrm>
          <a:custGeom>
            <a:avLst/>
            <a:gdLst/>
            <a:ahLst/>
            <a:cxnLst/>
            <a:rect l="l" t="t" r="r" b="b"/>
            <a:pathLst>
              <a:path w="4484370" h="2179320">
                <a:moveTo>
                  <a:pt x="76211" y="0"/>
                </a:moveTo>
                <a:lnTo>
                  <a:pt x="4408159" y="0"/>
                </a:lnTo>
                <a:cubicBezTo>
                  <a:pt x="4450249" y="0"/>
                  <a:pt x="4484370" y="34121"/>
                  <a:pt x="4484370" y="76211"/>
                </a:cubicBezTo>
                <a:lnTo>
                  <a:pt x="4484370" y="2103109"/>
                </a:lnTo>
                <a:cubicBezTo>
                  <a:pt x="4484370" y="2145199"/>
                  <a:pt x="4450249" y="2179320"/>
                  <a:pt x="4408159" y="2179320"/>
                </a:cubicBezTo>
                <a:lnTo>
                  <a:pt x="76211" y="2179320"/>
                </a:lnTo>
                <a:cubicBezTo>
                  <a:pt x="34121" y="2179320"/>
                  <a:pt x="0" y="2145199"/>
                  <a:pt x="0" y="21031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4A5462">
                  <a:alpha val="20000"/>
                </a:srgbClr>
              </a:gs>
            </a:gsLst>
            <a:lin ang="2700000" scaled="1"/>
          </a:gradFill>
          <a:ln w="10160">
            <a:solidFill>
              <a:srgbClr val="98A6B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7437120" y="46139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7544276" y="47186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7932420" y="467106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66886" y="510921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7653814" y="507111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Coverage:</a:t>
            </a: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detection vectors reduce blind spots.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466886" y="562356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7655600" y="5585460"/>
            <a:ext cx="4105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Assessment:</a:t>
            </a: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Normalized scoring enables consistent evaluation.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71648" y="613791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7669768" y="6099810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Intelligence:</a:t>
            </a: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risk levels guide response priorities.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565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575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YARA Matches &amp; Behavioral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627370" cy="5570220"/>
          </a:xfrm>
          <a:custGeom>
            <a:avLst/>
            <a:gdLst/>
            <a:ahLst/>
            <a:cxnLst/>
            <a:rect l="l" t="t" r="r" b="b"/>
            <a:pathLst>
              <a:path w="5627370" h="5570220">
                <a:moveTo>
                  <a:pt x="76201" y="0"/>
                </a:moveTo>
                <a:lnTo>
                  <a:pt x="5551169" y="0"/>
                </a:lnTo>
                <a:cubicBezTo>
                  <a:pt x="5593254" y="0"/>
                  <a:pt x="5627370" y="34116"/>
                  <a:pt x="5627370" y="76201"/>
                </a:cubicBezTo>
                <a:lnTo>
                  <a:pt x="5627370" y="5494019"/>
                </a:lnTo>
                <a:cubicBezTo>
                  <a:pt x="5627370" y="5536104"/>
                  <a:pt x="5593254" y="5570220"/>
                  <a:pt x="5551169" y="5570220"/>
                </a:cubicBezTo>
                <a:lnTo>
                  <a:pt x="76201" y="5570220"/>
                </a:lnTo>
                <a:cubicBezTo>
                  <a:pt x="34116" y="5570220"/>
                  <a:pt x="0" y="5536104"/>
                  <a:pt x="0" y="54940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1020" y="1417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93420" y="1569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YARA Pattern Matching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22001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Signature-Based Detection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830" y="2068830"/>
            <a:ext cx="5313045" cy="3350895"/>
          </a:xfrm>
          <a:custGeom>
            <a:avLst/>
            <a:gdLst/>
            <a:ahLst/>
            <a:cxnLst/>
            <a:rect l="l" t="t" r="r" b="b"/>
            <a:pathLst>
              <a:path w="5313045" h="3350895">
                <a:moveTo>
                  <a:pt x="76199" y="0"/>
                </a:moveTo>
                <a:lnTo>
                  <a:pt x="5236846" y="0"/>
                </a:lnTo>
                <a:cubicBezTo>
                  <a:pt x="5278929" y="0"/>
                  <a:pt x="5313045" y="34116"/>
                  <a:pt x="5313045" y="76199"/>
                </a:cubicBezTo>
                <a:lnTo>
                  <a:pt x="5313045" y="3274696"/>
                </a:lnTo>
                <a:cubicBezTo>
                  <a:pt x="5313045" y="3316779"/>
                  <a:pt x="5278929" y="3350895"/>
                  <a:pt x="5236846" y="3350895"/>
                </a:cubicBezTo>
                <a:lnTo>
                  <a:pt x="76199" y="3350895"/>
                </a:lnTo>
                <a:cubicBezTo>
                  <a:pt x="34116" y="3350895"/>
                  <a:pt x="0" y="3316779"/>
                  <a:pt x="0" y="327469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2940" y="2186940"/>
            <a:ext cx="51530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rules provide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pattern-based detection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against known threat signatures. Each match contributes points based on rule severity, with critical threats receiving maximum weight.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6750" y="3048000"/>
            <a:ext cx="5065395" cy="2245995"/>
          </a:xfrm>
          <a:custGeom>
            <a:avLst/>
            <a:gdLst/>
            <a:ahLst/>
            <a:cxnLst/>
            <a:rect l="l" t="t" r="r" b="b"/>
            <a:pathLst>
              <a:path w="5065395" h="2245995">
                <a:moveTo>
                  <a:pt x="76207" y="0"/>
                </a:moveTo>
                <a:lnTo>
                  <a:pt x="4989188" y="0"/>
                </a:lnTo>
                <a:cubicBezTo>
                  <a:pt x="5031276" y="0"/>
                  <a:pt x="5065395" y="34119"/>
                  <a:pt x="5065395" y="76207"/>
                </a:cubicBezTo>
                <a:lnTo>
                  <a:pt x="5065395" y="2169788"/>
                </a:lnTo>
                <a:cubicBezTo>
                  <a:pt x="5065395" y="2211876"/>
                  <a:pt x="5031276" y="2245995"/>
                  <a:pt x="4989188" y="2245995"/>
                </a:cubicBezTo>
                <a:lnTo>
                  <a:pt x="76207" y="2245995"/>
                </a:lnTo>
                <a:cubicBezTo>
                  <a:pt x="34119" y="2245995"/>
                  <a:pt x="0" y="2211876"/>
                  <a:pt x="0" y="216978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0560" y="3051810"/>
            <a:ext cx="5057775" cy="384810"/>
          </a:xfrm>
          <a:custGeom>
            <a:avLst/>
            <a:gdLst/>
            <a:ahLst/>
            <a:cxnLst/>
            <a:rect l="l" t="t" r="r" b="b"/>
            <a:pathLst>
              <a:path w="5057775" h="384810">
                <a:moveTo>
                  <a:pt x="0" y="0"/>
                </a:moveTo>
                <a:lnTo>
                  <a:pt x="5057775" y="0"/>
                </a:lnTo>
                <a:lnTo>
                  <a:pt x="5057775" y="384810"/>
                </a:lnTo>
                <a:lnTo>
                  <a:pt x="0" y="384810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70560" y="3436620"/>
            <a:ext cx="5057775" cy="7620"/>
          </a:xfrm>
          <a:custGeom>
            <a:avLst/>
            <a:gdLst/>
            <a:ahLst/>
            <a:cxnLst/>
            <a:rect l="l" t="t" r="r" b="b"/>
            <a:pathLst>
              <a:path w="5057775" h="7620">
                <a:moveTo>
                  <a:pt x="0" y="0"/>
                </a:moveTo>
                <a:lnTo>
                  <a:pt x="5057775" y="0"/>
                </a:lnTo>
                <a:lnTo>
                  <a:pt x="50577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2960" y="312801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58641" y="312801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94440" y="312801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0560" y="3901441"/>
            <a:ext cx="5057775" cy="7620"/>
          </a:xfrm>
          <a:custGeom>
            <a:avLst/>
            <a:gdLst/>
            <a:ahLst/>
            <a:cxnLst/>
            <a:rect l="l" t="t" r="r" b="b"/>
            <a:pathLst>
              <a:path w="5057775" h="7620">
                <a:moveTo>
                  <a:pt x="0" y="0"/>
                </a:moveTo>
                <a:lnTo>
                  <a:pt x="5057775" y="0"/>
                </a:lnTo>
                <a:lnTo>
                  <a:pt x="50577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22960" y="36117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13460" y="3554611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58641" y="3516631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94440" y="3573661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APT malware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0560" y="4366141"/>
            <a:ext cx="5057775" cy="7620"/>
          </a:xfrm>
          <a:custGeom>
            <a:avLst/>
            <a:gdLst/>
            <a:ahLst/>
            <a:cxnLst/>
            <a:rect l="l" t="t" r="r" b="b"/>
            <a:pathLst>
              <a:path w="5057775" h="7620">
                <a:moveTo>
                  <a:pt x="0" y="0"/>
                </a:moveTo>
                <a:lnTo>
                  <a:pt x="5057775" y="0"/>
                </a:lnTo>
                <a:lnTo>
                  <a:pt x="50577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22960" y="407646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13460" y="4019312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58641" y="3981331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94440" y="4038362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0560" y="4830842"/>
            <a:ext cx="5057775" cy="7620"/>
          </a:xfrm>
          <a:custGeom>
            <a:avLst/>
            <a:gdLst/>
            <a:ahLst/>
            <a:cxnLst/>
            <a:rect l="l" t="t" r="r" b="b"/>
            <a:pathLst>
              <a:path w="5057775" h="7620">
                <a:moveTo>
                  <a:pt x="0" y="0"/>
                </a:moveTo>
                <a:lnTo>
                  <a:pt x="5057775" y="0"/>
                </a:lnTo>
                <a:lnTo>
                  <a:pt x="50577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22960" y="454116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13460" y="4484014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58641" y="4446032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94440" y="4503064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" y="500586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13460" y="4948714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458641" y="491073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94440" y="4967764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Adware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0070" y="5764530"/>
            <a:ext cx="5295900" cy="914400"/>
          </a:xfrm>
          <a:custGeom>
            <a:avLst/>
            <a:gdLst/>
            <a:ahLst/>
            <a:cxnLst/>
            <a:rect l="l" t="t" r="r" b="b"/>
            <a:pathLst>
              <a:path w="5295900" h="914400">
                <a:moveTo>
                  <a:pt x="0" y="0"/>
                </a:moveTo>
                <a:lnTo>
                  <a:pt x="5295900" y="0"/>
                </a:lnTo>
                <a:lnTo>
                  <a:pt x="52959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60070" y="576453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74370" y="591693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941189" y="587883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Cumulative Scoring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1189" y="6145530"/>
            <a:ext cx="4876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YARA matches accumulate points. A sample with critical and medium matches would score 25 + 8 =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 points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010" y="1261110"/>
            <a:ext cx="5627370" cy="5570220"/>
          </a:xfrm>
          <a:custGeom>
            <a:avLst/>
            <a:gdLst/>
            <a:ahLst/>
            <a:cxnLst/>
            <a:rect l="l" t="t" r="r" b="b"/>
            <a:pathLst>
              <a:path w="5627370" h="5570220">
                <a:moveTo>
                  <a:pt x="76201" y="0"/>
                </a:moveTo>
                <a:lnTo>
                  <a:pt x="5551169" y="0"/>
                </a:lnTo>
                <a:cubicBezTo>
                  <a:pt x="5593254" y="0"/>
                  <a:pt x="5627370" y="34116"/>
                  <a:pt x="5627370" y="76201"/>
                </a:cubicBezTo>
                <a:lnTo>
                  <a:pt x="5627370" y="5494019"/>
                </a:lnTo>
                <a:cubicBezTo>
                  <a:pt x="5627370" y="5536104"/>
                  <a:pt x="5593254" y="5570220"/>
                  <a:pt x="5551169" y="5570220"/>
                </a:cubicBezTo>
                <a:lnTo>
                  <a:pt x="76201" y="5570220"/>
                </a:lnTo>
                <a:cubicBezTo>
                  <a:pt x="34116" y="5570220"/>
                  <a:pt x="0" y="5536104"/>
                  <a:pt x="0" y="54940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332220" y="1417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470332" y="15697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979920" y="141732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Analysis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79920" y="1722001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Monitoring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6030" y="2068830"/>
            <a:ext cx="5313045" cy="3579495"/>
          </a:xfrm>
          <a:custGeom>
            <a:avLst/>
            <a:gdLst/>
            <a:ahLst/>
            <a:cxnLst/>
            <a:rect l="l" t="t" r="r" b="b"/>
            <a:pathLst>
              <a:path w="5313045" h="3579495">
                <a:moveTo>
                  <a:pt x="76207" y="0"/>
                </a:moveTo>
                <a:lnTo>
                  <a:pt x="5236838" y="0"/>
                </a:lnTo>
                <a:cubicBezTo>
                  <a:pt x="5278926" y="0"/>
                  <a:pt x="5313045" y="34119"/>
                  <a:pt x="5313045" y="76207"/>
                </a:cubicBezTo>
                <a:lnTo>
                  <a:pt x="5313045" y="3503288"/>
                </a:lnTo>
                <a:cubicBezTo>
                  <a:pt x="5313045" y="3545376"/>
                  <a:pt x="5278926" y="3579495"/>
                  <a:pt x="5236838" y="3579495"/>
                </a:cubicBezTo>
                <a:lnTo>
                  <a:pt x="76207" y="3579495"/>
                </a:lnTo>
                <a:cubicBezTo>
                  <a:pt x="34119" y="3579495"/>
                  <a:pt x="0" y="3545376"/>
                  <a:pt x="0" y="350328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454140" y="2186940"/>
            <a:ext cx="51530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monitoring tracks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behavior patterns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during execution. Suspicious activities contribute to a behavior score, which is then weighted at 70% for the final calculation.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57950" y="3048000"/>
            <a:ext cx="2474595" cy="617220"/>
          </a:xfrm>
          <a:custGeom>
            <a:avLst/>
            <a:gdLst/>
            <a:ahLst/>
            <a:cxnLst/>
            <a:rect l="l" t="t" r="r" b="b"/>
            <a:pathLst>
              <a:path w="2474595" h="617220">
                <a:moveTo>
                  <a:pt x="76202" y="0"/>
                </a:moveTo>
                <a:lnTo>
                  <a:pt x="2398393" y="0"/>
                </a:lnTo>
                <a:cubicBezTo>
                  <a:pt x="2440478" y="0"/>
                  <a:pt x="2474595" y="34117"/>
                  <a:pt x="2474595" y="76202"/>
                </a:cubicBezTo>
                <a:lnTo>
                  <a:pt x="2474595" y="541018"/>
                </a:lnTo>
                <a:cubicBezTo>
                  <a:pt x="2474595" y="583103"/>
                  <a:pt x="2440478" y="617220"/>
                  <a:pt x="23983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576060" y="316611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50750"/>
                </a:lnTo>
                <a:cubicBezTo>
                  <a:pt x="114300" y="45690"/>
                  <a:pt x="112306" y="40838"/>
                  <a:pt x="108734" y="37267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  <a:moveTo>
                  <a:pt x="19050" y="114300"/>
                </a:moveTo>
                <a:lnTo>
                  <a:pt x="19050" y="95250"/>
                </a:lnTo>
                <a:cubicBezTo>
                  <a:pt x="19050" y="89981"/>
                  <a:pt x="23306" y="85725"/>
                  <a:pt x="28575" y="85725"/>
                </a:cubicBezTo>
                <a:lnTo>
                  <a:pt x="85725" y="85725"/>
                </a:lnTo>
                <a:cubicBezTo>
                  <a:pt x="90994" y="85725"/>
                  <a:pt x="95250" y="89981"/>
                  <a:pt x="95250" y="95250"/>
                </a:cubicBezTo>
                <a:lnTo>
                  <a:pt x="95250" y="114300"/>
                </a:lnTo>
                <a:cubicBezTo>
                  <a:pt x="95250" y="119569"/>
                  <a:pt x="90994" y="123825"/>
                  <a:pt x="85725" y="123825"/>
                </a:cubicBezTo>
                <a:lnTo>
                  <a:pt x="28575" y="123825"/>
                </a:lnTo>
                <a:cubicBezTo>
                  <a:pt x="23306" y="123825"/>
                  <a:pt x="19050" y="119569"/>
                  <a:pt x="19050" y="114300"/>
                </a:cubicBezTo>
                <a:close/>
                <a:moveTo>
                  <a:pt x="26194" y="19050"/>
                </a:moveTo>
                <a:lnTo>
                  <a:pt x="40481" y="19050"/>
                </a:lnTo>
                <a:cubicBezTo>
                  <a:pt x="44440" y="19050"/>
                  <a:pt x="47625" y="22235"/>
                  <a:pt x="47625" y="26194"/>
                </a:cubicBezTo>
                <a:cubicBezTo>
                  <a:pt x="47625" y="30153"/>
                  <a:pt x="44440" y="33338"/>
                  <a:pt x="40481" y="33338"/>
                </a:cubicBezTo>
                <a:lnTo>
                  <a:pt x="26194" y="33338"/>
                </a:lnTo>
                <a:cubicBezTo>
                  <a:pt x="22235" y="33338"/>
                  <a:pt x="19050" y="30153"/>
                  <a:pt x="19050" y="26194"/>
                </a:cubicBezTo>
                <a:cubicBezTo>
                  <a:pt x="19050" y="22235"/>
                  <a:pt x="22235" y="19050"/>
                  <a:pt x="26194" y="19050"/>
                </a:cubicBezTo>
                <a:close/>
                <a:moveTo>
                  <a:pt x="26194" y="47625"/>
                </a:moveTo>
                <a:lnTo>
                  <a:pt x="40481" y="47625"/>
                </a:lnTo>
                <a:cubicBezTo>
                  <a:pt x="44440" y="47625"/>
                  <a:pt x="47625" y="50810"/>
                  <a:pt x="47625" y="54769"/>
                </a:cubicBezTo>
                <a:cubicBezTo>
                  <a:pt x="47625" y="58728"/>
                  <a:pt x="44440" y="61912"/>
                  <a:pt x="40481" y="61912"/>
                </a:cubicBezTo>
                <a:lnTo>
                  <a:pt x="26194" y="61912"/>
                </a:lnTo>
                <a:cubicBezTo>
                  <a:pt x="22235" y="61912"/>
                  <a:pt x="19050" y="58728"/>
                  <a:pt x="19050" y="54769"/>
                </a:cubicBezTo>
                <a:cubicBezTo>
                  <a:pt x="19050" y="50810"/>
                  <a:pt x="22235" y="47625"/>
                  <a:pt x="26194" y="47625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804660" y="312801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System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37960" y="339471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Modifies system files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52560" y="3048000"/>
            <a:ext cx="2474595" cy="617220"/>
          </a:xfrm>
          <a:custGeom>
            <a:avLst/>
            <a:gdLst/>
            <a:ahLst/>
            <a:cxnLst/>
            <a:rect l="l" t="t" r="r" b="b"/>
            <a:pathLst>
              <a:path w="2474595" h="617220">
                <a:moveTo>
                  <a:pt x="76202" y="0"/>
                </a:moveTo>
                <a:lnTo>
                  <a:pt x="2398393" y="0"/>
                </a:lnTo>
                <a:cubicBezTo>
                  <a:pt x="2440478" y="0"/>
                  <a:pt x="2474595" y="34117"/>
                  <a:pt x="2474595" y="76202"/>
                </a:cubicBezTo>
                <a:lnTo>
                  <a:pt x="2474595" y="541018"/>
                </a:lnTo>
                <a:cubicBezTo>
                  <a:pt x="2474595" y="583103"/>
                  <a:pt x="2440478" y="617220"/>
                  <a:pt x="23983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9142095" y="316611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9399270" y="312801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32570" y="339471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C&amp;C communication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57950" y="3787141"/>
            <a:ext cx="2474595" cy="617220"/>
          </a:xfrm>
          <a:custGeom>
            <a:avLst/>
            <a:gdLst/>
            <a:ahLst/>
            <a:cxnLst/>
            <a:rect l="l" t="t" r="r" b="b"/>
            <a:pathLst>
              <a:path w="2474595" h="617220">
                <a:moveTo>
                  <a:pt x="76202" y="0"/>
                </a:moveTo>
                <a:lnTo>
                  <a:pt x="2398393" y="0"/>
                </a:lnTo>
                <a:cubicBezTo>
                  <a:pt x="2440478" y="0"/>
                  <a:pt x="2474595" y="34117"/>
                  <a:pt x="2474595" y="76202"/>
                </a:cubicBezTo>
                <a:lnTo>
                  <a:pt x="2474595" y="541018"/>
                </a:lnTo>
                <a:cubicBezTo>
                  <a:pt x="2474595" y="583103"/>
                  <a:pt x="2440478" y="617220"/>
                  <a:pt x="23983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557010" y="3905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40303"/>
                </a:lnTo>
                <a:cubicBezTo>
                  <a:pt x="0" y="42327"/>
                  <a:pt x="1310" y="44053"/>
                  <a:pt x="3006" y="45154"/>
                </a:cubicBezTo>
                <a:cubicBezTo>
                  <a:pt x="6935" y="47714"/>
                  <a:pt x="9525" y="52120"/>
                  <a:pt x="9525" y="57150"/>
                </a:cubicBezTo>
                <a:cubicBezTo>
                  <a:pt x="9525" y="62180"/>
                  <a:pt x="6935" y="66586"/>
                  <a:pt x="3006" y="69146"/>
                </a:cubicBezTo>
                <a:cubicBezTo>
                  <a:pt x="1310" y="70247"/>
                  <a:pt x="0" y="71973"/>
                  <a:pt x="0" y="73997"/>
                </a:cubicBezTo>
                <a:lnTo>
                  <a:pt x="0" y="90488"/>
                </a:lnTo>
                <a:lnTo>
                  <a:pt x="152400" y="90488"/>
                </a:lnTo>
                <a:lnTo>
                  <a:pt x="152400" y="73997"/>
                </a:lnTo>
                <a:cubicBezTo>
                  <a:pt x="152400" y="71973"/>
                  <a:pt x="151090" y="70247"/>
                  <a:pt x="149394" y="69146"/>
                </a:cubicBezTo>
                <a:cubicBezTo>
                  <a:pt x="145465" y="66586"/>
                  <a:pt x="142875" y="62180"/>
                  <a:pt x="142875" y="57150"/>
                </a:cubicBezTo>
                <a:cubicBezTo>
                  <a:pt x="142875" y="52120"/>
                  <a:pt x="145465" y="47714"/>
                  <a:pt x="149394" y="45154"/>
                </a:cubicBezTo>
                <a:cubicBezTo>
                  <a:pt x="151090" y="44053"/>
                  <a:pt x="152400" y="42327"/>
                  <a:pt x="152400" y="40303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52400" y="123825"/>
                </a:moveTo>
                <a:lnTo>
                  <a:pt x="152400" y="104775"/>
                </a:lnTo>
                <a:lnTo>
                  <a:pt x="0" y="104775"/>
                </a:ln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28575" y="133350"/>
                </a:lnTo>
                <a:lnTo>
                  <a:pt x="28575" y="126206"/>
                </a:lnTo>
                <a:cubicBezTo>
                  <a:pt x="28575" y="122247"/>
                  <a:pt x="31760" y="119062"/>
                  <a:pt x="35719" y="119062"/>
                </a:cubicBezTo>
                <a:cubicBezTo>
                  <a:pt x="39678" y="119062"/>
                  <a:pt x="42863" y="122247"/>
                  <a:pt x="42863" y="126206"/>
                </a:cubicBezTo>
                <a:lnTo>
                  <a:pt x="42863" y="133350"/>
                </a:lnTo>
                <a:lnTo>
                  <a:pt x="69056" y="133350"/>
                </a:lnTo>
                <a:lnTo>
                  <a:pt x="69056" y="126206"/>
                </a:lnTo>
                <a:cubicBezTo>
                  <a:pt x="69056" y="122247"/>
                  <a:pt x="72241" y="119062"/>
                  <a:pt x="76200" y="119062"/>
                </a:cubicBezTo>
                <a:cubicBezTo>
                  <a:pt x="80159" y="119062"/>
                  <a:pt x="83344" y="122247"/>
                  <a:pt x="83344" y="126206"/>
                </a:cubicBezTo>
                <a:lnTo>
                  <a:pt x="83344" y="133350"/>
                </a:lnTo>
                <a:lnTo>
                  <a:pt x="109537" y="133350"/>
                </a:lnTo>
                <a:lnTo>
                  <a:pt x="109537" y="126206"/>
                </a:lnTo>
                <a:cubicBezTo>
                  <a:pt x="109537" y="122247"/>
                  <a:pt x="112722" y="119062"/>
                  <a:pt x="116681" y="119062"/>
                </a:cubicBezTo>
                <a:cubicBezTo>
                  <a:pt x="120640" y="119062"/>
                  <a:pt x="123825" y="122247"/>
                  <a:pt x="123825" y="126206"/>
                </a:cubicBezTo>
                <a:lnTo>
                  <a:pt x="123825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lose/>
                <a:moveTo>
                  <a:pt x="47625" y="47625"/>
                </a:moveTo>
                <a:lnTo>
                  <a:pt x="47625" y="66675"/>
                </a:lnTo>
                <a:cubicBezTo>
                  <a:pt x="47625" y="71944"/>
                  <a:pt x="43369" y="76200"/>
                  <a:pt x="38100" y="76200"/>
                </a:cubicBezTo>
                <a:cubicBezTo>
                  <a:pt x="32831" y="76200"/>
                  <a:pt x="28575" y="71944"/>
                  <a:pt x="28575" y="66675"/>
                </a:cubicBezTo>
                <a:lnTo>
                  <a:pt x="28575" y="47625"/>
                </a:lnTo>
                <a:cubicBezTo>
                  <a:pt x="28575" y="42356"/>
                  <a:pt x="32831" y="38100"/>
                  <a:pt x="38100" y="38100"/>
                </a:cubicBezTo>
                <a:cubicBezTo>
                  <a:pt x="43369" y="38100"/>
                  <a:pt x="47625" y="42356"/>
                  <a:pt x="47625" y="47625"/>
                </a:cubicBezTo>
                <a:close/>
                <a:moveTo>
                  <a:pt x="85725" y="47625"/>
                </a:moveTo>
                <a:lnTo>
                  <a:pt x="85725" y="66675"/>
                </a:lnTo>
                <a:cubicBezTo>
                  <a:pt x="85725" y="71944"/>
                  <a:pt x="81469" y="76200"/>
                  <a:pt x="76200" y="76200"/>
                </a:cubicBezTo>
                <a:cubicBezTo>
                  <a:pt x="70931" y="76200"/>
                  <a:pt x="66675" y="71944"/>
                  <a:pt x="66675" y="66675"/>
                </a:cubicBezTo>
                <a:lnTo>
                  <a:pt x="66675" y="47625"/>
                </a:lnTo>
                <a:cubicBezTo>
                  <a:pt x="66675" y="42356"/>
                  <a:pt x="70931" y="38100"/>
                  <a:pt x="76200" y="38100"/>
                </a:cubicBezTo>
                <a:cubicBezTo>
                  <a:pt x="81469" y="38100"/>
                  <a:pt x="85725" y="42356"/>
                  <a:pt x="85725" y="47625"/>
                </a:cubicBezTo>
                <a:close/>
                <a:moveTo>
                  <a:pt x="123825" y="47625"/>
                </a:moveTo>
                <a:lnTo>
                  <a:pt x="123825" y="66675"/>
                </a:lnTo>
                <a:cubicBezTo>
                  <a:pt x="123825" y="71944"/>
                  <a:pt x="119569" y="76200"/>
                  <a:pt x="114300" y="76200"/>
                </a:cubicBezTo>
                <a:cubicBezTo>
                  <a:pt x="109031" y="76200"/>
                  <a:pt x="104775" y="71944"/>
                  <a:pt x="104775" y="66675"/>
                </a:cubicBezTo>
                <a:lnTo>
                  <a:pt x="104775" y="47625"/>
                </a:lnTo>
                <a:cubicBezTo>
                  <a:pt x="104775" y="42356"/>
                  <a:pt x="109031" y="38100"/>
                  <a:pt x="114300" y="38100"/>
                </a:cubicBezTo>
                <a:cubicBezTo>
                  <a:pt x="119569" y="38100"/>
                  <a:pt x="123825" y="42356"/>
                  <a:pt x="123825" y="47625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804660" y="386715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37960" y="41338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injection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52560" y="3787141"/>
            <a:ext cx="2474595" cy="617220"/>
          </a:xfrm>
          <a:custGeom>
            <a:avLst/>
            <a:gdLst/>
            <a:ahLst/>
            <a:cxnLst/>
            <a:rect l="l" t="t" r="r" b="b"/>
            <a:pathLst>
              <a:path w="2474595" h="617220">
                <a:moveTo>
                  <a:pt x="76202" y="0"/>
                </a:moveTo>
                <a:lnTo>
                  <a:pt x="2398393" y="0"/>
                </a:lnTo>
                <a:cubicBezTo>
                  <a:pt x="2440478" y="0"/>
                  <a:pt x="2474595" y="34117"/>
                  <a:pt x="2474595" y="76202"/>
                </a:cubicBezTo>
                <a:lnTo>
                  <a:pt x="2474595" y="541018"/>
                </a:lnTo>
                <a:cubicBezTo>
                  <a:pt x="2474595" y="583103"/>
                  <a:pt x="2440478" y="617220"/>
                  <a:pt x="23983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9151620" y="3905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9399270" y="3867150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32570" y="41338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Anti-analysis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57950" y="4526280"/>
            <a:ext cx="5065395" cy="998220"/>
          </a:xfrm>
          <a:custGeom>
            <a:avLst/>
            <a:gdLst/>
            <a:ahLst/>
            <a:cxnLst/>
            <a:rect l="l" t="t" r="r" b="b"/>
            <a:pathLst>
              <a:path w="5065395" h="998220">
                <a:moveTo>
                  <a:pt x="76204" y="0"/>
                </a:moveTo>
                <a:lnTo>
                  <a:pt x="4989191" y="0"/>
                </a:lnTo>
                <a:cubicBezTo>
                  <a:pt x="5031277" y="0"/>
                  <a:pt x="5065395" y="34118"/>
                  <a:pt x="5065395" y="76204"/>
                </a:cubicBezTo>
                <a:lnTo>
                  <a:pt x="5065395" y="922016"/>
                </a:lnTo>
                <a:cubicBezTo>
                  <a:pt x="5065395" y="964102"/>
                  <a:pt x="5031277" y="998220"/>
                  <a:pt x="49891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6537960" y="4644390"/>
            <a:ext cx="490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 Formula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528435" y="4911091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behavior_score × 0.7 = </a:t>
            </a:r>
            <a:r>
              <a:rPr lang="en-US" sz="15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Points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42723" y="5215891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85 × 0.7 = </a:t>
            </a: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59.5 points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1270" y="5764530"/>
            <a:ext cx="5295900" cy="914400"/>
          </a:xfrm>
          <a:custGeom>
            <a:avLst/>
            <a:gdLst/>
            <a:ahLst/>
            <a:cxnLst/>
            <a:rect l="l" t="t" r="r" b="b"/>
            <a:pathLst>
              <a:path w="5295900" h="914400">
                <a:moveTo>
                  <a:pt x="0" y="0"/>
                </a:moveTo>
                <a:lnTo>
                  <a:pt x="5295900" y="0"/>
                </a:lnTo>
                <a:lnTo>
                  <a:pt x="52959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6351270" y="576453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6479857" y="591693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6764893" y="5878830"/>
            <a:ext cx="484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Weight Component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764893" y="6145530"/>
            <a:ext cx="48482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 points maximum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behavioral analysis is the most significant indicator of malicious intent.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296" y="499900"/>
            <a:ext cx="55544" cy="370296"/>
          </a:xfrm>
          <a:custGeom>
            <a:avLst/>
            <a:gdLst/>
            <a:ahLst/>
            <a:cxnLst/>
            <a:rect l="l" t="t" r="r" b="b"/>
            <a:pathLst>
              <a:path w="55544" h="370296">
                <a:moveTo>
                  <a:pt x="0" y="0"/>
                </a:moveTo>
                <a:lnTo>
                  <a:pt x="55544" y="0"/>
                </a:lnTo>
                <a:lnTo>
                  <a:pt x="55544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3959" y="370296"/>
            <a:ext cx="628577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kern="0" spc="58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3959" y="629503"/>
            <a:ext cx="637835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&amp; Machine Learning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999" y="1225680"/>
            <a:ext cx="5645164" cy="5626650"/>
          </a:xfrm>
          <a:custGeom>
            <a:avLst/>
            <a:gdLst/>
            <a:ahLst/>
            <a:cxnLst/>
            <a:rect l="l" t="t" r="r" b="b"/>
            <a:pathLst>
              <a:path w="5645164" h="5626650">
                <a:moveTo>
                  <a:pt x="74047" y="0"/>
                </a:moveTo>
                <a:lnTo>
                  <a:pt x="5571118" y="0"/>
                </a:lnTo>
                <a:cubicBezTo>
                  <a:pt x="5612013" y="0"/>
                  <a:pt x="5645164" y="33152"/>
                  <a:pt x="5645164" y="74047"/>
                </a:cubicBezTo>
                <a:lnTo>
                  <a:pt x="5645164" y="5552603"/>
                </a:lnTo>
                <a:cubicBezTo>
                  <a:pt x="5645164" y="5593498"/>
                  <a:pt x="5612013" y="5626650"/>
                  <a:pt x="5571118" y="5626650"/>
                </a:cubicBezTo>
                <a:lnTo>
                  <a:pt x="74047" y="5626650"/>
                </a:lnTo>
                <a:cubicBezTo>
                  <a:pt x="33152" y="5626650"/>
                  <a:pt x="0" y="5593498"/>
                  <a:pt x="0" y="5552603"/>
                </a:cubicBezTo>
                <a:lnTo>
                  <a:pt x="0" y="74047"/>
                </a:lnTo>
                <a:cubicBezTo>
                  <a:pt x="0" y="33179"/>
                  <a:pt x="33179" y="0"/>
                  <a:pt x="74047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25820" y="1377502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111091" y="0"/>
                </a:moveTo>
                <a:lnTo>
                  <a:pt x="407324" y="0"/>
                </a:lnTo>
                <a:cubicBezTo>
                  <a:pt x="468636" y="0"/>
                  <a:pt x="518415" y="49778"/>
                  <a:pt x="518415" y="111091"/>
                </a:cubicBezTo>
                <a:lnTo>
                  <a:pt x="518415" y="407324"/>
                </a:lnTo>
                <a:cubicBezTo>
                  <a:pt x="518415" y="468677"/>
                  <a:pt x="468677" y="518415"/>
                  <a:pt x="407324" y="518415"/>
                </a:cubicBezTo>
                <a:lnTo>
                  <a:pt x="111091" y="518415"/>
                </a:lnTo>
                <a:cubicBezTo>
                  <a:pt x="49737" y="518415"/>
                  <a:pt x="0" y="468677"/>
                  <a:pt x="0" y="407324"/>
                </a:cubicBezTo>
                <a:lnTo>
                  <a:pt x="0" y="111091"/>
                </a:lnTo>
                <a:cubicBezTo>
                  <a:pt x="0" y="49778"/>
                  <a:pt x="49778" y="0"/>
                  <a:pt x="11109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73939" y="1525620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190717" y="3038"/>
                </a:moveTo>
                <a:cubicBezTo>
                  <a:pt x="194796" y="-1041"/>
                  <a:pt x="201392" y="-1041"/>
                  <a:pt x="205428" y="3038"/>
                </a:cubicBezTo>
                <a:lnTo>
                  <a:pt x="219314" y="16924"/>
                </a:lnTo>
                <a:cubicBezTo>
                  <a:pt x="223393" y="21003"/>
                  <a:pt x="223393" y="27599"/>
                  <a:pt x="219314" y="31634"/>
                </a:cubicBezTo>
                <a:lnTo>
                  <a:pt x="181561" y="69387"/>
                </a:lnTo>
                <a:lnTo>
                  <a:pt x="198485" y="86311"/>
                </a:lnTo>
                <a:cubicBezTo>
                  <a:pt x="201479" y="89305"/>
                  <a:pt x="202347" y="93775"/>
                  <a:pt x="200741" y="97680"/>
                </a:cubicBezTo>
                <a:cubicBezTo>
                  <a:pt x="199135" y="101586"/>
                  <a:pt x="195360" y="104146"/>
                  <a:pt x="191151" y="104146"/>
                </a:cubicBezTo>
                <a:lnTo>
                  <a:pt x="128663" y="104146"/>
                </a:lnTo>
                <a:cubicBezTo>
                  <a:pt x="122892" y="104146"/>
                  <a:pt x="118249" y="99503"/>
                  <a:pt x="118249" y="93731"/>
                </a:cubicBezTo>
                <a:lnTo>
                  <a:pt x="118249" y="31244"/>
                </a:lnTo>
                <a:cubicBezTo>
                  <a:pt x="118249" y="27035"/>
                  <a:pt x="120766" y="23216"/>
                  <a:pt x="124671" y="21610"/>
                </a:cubicBezTo>
                <a:cubicBezTo>
                  <a:pt x="128577" y="20005"/>
                  <a:pt x="133046" y="20873"/>
                  <a:pt x="136040" y="23867"/>
                </a:cubicBezTo>
                <a:lnTo>
                  <a:pt x="152964" y="40790"/>
                </a:lnTo>
                <a:lnTo>
                  <a:pt x="190717" y="3038"/>
                </a:lnTo>
                <a:close/>
                <a:moveTo>
                  <a:pt x="31461" y="118032"/>
                </a:moveTo>
                <a:lnTo>
                  <a:pt x="93948" y="118032"/>
                </a:lnTo>
                <a:cubicBezTo>
                  <a:pt x="99720" y="118032"/>
                  <a:pt x="104363" y="122675"/>
                  <a:pt x="104363" y="128446"/>
                </a:cubicBezTo>
                <a:lnTo>
                  <a:pt x="104363" y="190934"/>
                </a:lnTo>
                <a:cubicBezTo>
                  <a:pt x="104363" y="195143"/>
                  <a:pt x="101846" y="198962"/>
                  <a:pt x="97940" y="200567"/>
                </a:cubicBezTo>
                <a:cubicBezTo>
                  <a:pt x="94035" y="202173"/>
                  <a:pt x="89565" y="201305"/>
                  <a:pt x="86571" y="198311"/>
                </a:cubicBezTo>
                <a:lnTo>
                  <a:pt x="69647" y="181387"/>
                </a:lnTo>
                <a:lnTo>
                  <a:pt x="31895" y="219140"/>
                </a:lnTo>
                <a:cubicBezTo>
                  <a:pt x="27816" y="223219"/>
                  <a:pt x="21220" y="223219"/>
                  <a:pt x="17184" y="219140"/>
                </a:cubicBezTo>
                <a:lnTo>
                  <a:pt x="3298" y="205254"/>
                </a:lnTo>
                <a:cubicBezTo>
                  <a:pt x="-781" y="201175"/>
                  <a:pt x="-781" y="194579"/>
                  <a:pt x="3298" y="190543"/>
                </a:cubicBezTo>
                <a:lnTo>
                  <a:pt x="41051" y="152791"/>
                </a:lnTo>
                <a:lnTo>
                  <a:pt x="24127" y="135867"/>
                </a:lnTo>
                <a:cubicBezTo>
                  <a:pt x="21133" y="132873"/>
                  <a:pt x="20265" y="128403"/>
                  <a:pt x="21871" y="124498"/>
                </a:cubicBezTo>
                <a:cubicBezTo>
                  <a:pt x="23476" y="120592"/>
                  <a:pt x="27251" y="118032"/>
                  <a:pt x="31461" y="11803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55324" y="1377502"/>
            <a:ext cx="1749649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5324" y="1673624"/>
            <a:ext cx="171262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Obfuscation Detection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523" y="2010708"/>
            <a:ext cx="5330413" cy="3238240"/>
          </a:xfrm>
          <a:custGeom>
            <a:avLst/>
            <a:gdLst/>
            <a:ahLst/>
            <a:cxnLst/>
            <a:rect l="l" t="t" r="r" b="b"/>
            <a:pathLst>
              <a:path w="5330413" h="3238240">
                <a:moveTo>
                  <a:pt x="74059" y="0"/>
                </a:moveTo>
                <a:lnTo>
                  <a:pt x="5256354" y="0"/>
                </a:lnTo>
                <a:cubicBezTo>
                  <a:pt x="5297256" y="0"/>
                  <a:pt x="5330413" y="33157"/>
                  <a:pt x="5330413" y="74059"/>
                </a:cubicBezTo>
                <a:lnTo>
                  <a:pt x="5330413" y="3164181"/>
                </a:lnTo>
                <a:cubicBezTo>
                  <a:pt x="5330413" y="3205082"/>
                  <a:pt x="5297256" y="3238240"/>
                  <a:pt x="5256354" y="3238240"/>
                </a:cubicBezTo>
                <a:lnTo>
                  <a:pt x="74059" y="3238240"/>
                </a:lnTo>
                <a:cubicBezTo>
                  <a:pt x="33157" y="3238240"/>
                  <a:pt x="0" y="3205082"/>
                  <a:pt x="0" y="3164181"/>
                </a:cubicBezTo>
                <a:lnTo>
                  <a:pt x="0" y="74059"/>
                </a:lnTo>
                <a:cubicBezTo>
                  <a:pt x="0" y="33185"/>
                  <a:pt x="33185" y="0"/>
                  <a:pt x="740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4315" y="2125501"/>
            <a:ext cx="5174888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measurement identifies </a:t>
            </a: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obfuscation techniques</a:t>
            </a: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packing and encryption, which are common in malware to evade signature-based detection.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1721" y="2688351"/>
            <a:ext cx="2486538" cy="1125700"/>
          </a:xfrm>
          <a:custGeom>
            <a:avLst/>
            <a:gdLst/>
            <a:ahLst/>
            <a:cxnLst/>
            <a:rect l="l" t="t" r="r" b="b"/>
            <a:pathLst>
              <a:path w="2486538" h="1125700">
                <a:moveTo>
                  <a:pt x="74060" y="0"/>
                </a:moveTo>
                <a:lnTo>
                  <a:pt x="2412479" y="0"/>
                </a:lnTo>
                <a:cubicBezTo>
                  <a:pt x="2453381" y="0"/>
                  <a:pt x="2486538" y="33158"/>
                  <a:pt x="2486538" y="74060"/>
                </a:cubicBezTo>
                <a:lnTo>
                  <a:pt x="2486538" y="1051640"/>
                </a:lnTo>
                <a:cubicBezTo>
                  <a:pt x="2486538" y="1092543"/>
                  <a:pt x="2453381" y="1125700"/>
                  <a:pt x="2412479" y="1125700"/>
                </a:cubicBezTo>
                <a:lnTo>
                  <a:pt x="74060" y="1125700"/>
                </a:lnTo>
                <a:cubicBezTo>
                  <a:pt x="33158" y="1125700"/>
                  <a:pt x="0" y="1092543"/>
                  <a:pt x="0" y="1051640"/>
                </a:cubicBezTo>
                <a:lnTo>
                  <a:pt x="0" y="74060"/>
                </a:lnTo>
                <a:cubicBezTo>
                  <a:pt x="0" y="33185"/>
                  <a:pt x="33185" y="0"/>
                  <a:pt x="74060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20320">
            <a:solidFill>
              <a:srgbClr val="98A6B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6899" y="2806844"/>
            <a:ext cx="2416182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4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186" y="3251200"/>
            <a:ext cx="232360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815" y="3510407"/>
            <a:ext cx="231435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entropy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9763" y="2688351"/>
            <a:ext cx="2486538" cy="1125700"/>
          </a:xfrm>
          <a:custGeom>
            <a:avLst/>
            <a:gdLst/>
            <a:ahLst/>
            <a:cxnLst/>
            <a:rect l="l" t="t" r="r" b="b"/>
            <a:pathLst>
              <a:path w="2486538" h="1125700">
                <a:moveTo>
                  <a:pt x="74060" y="0"/>
                </a:moveTo>
                <a:lnTo>
                  <a:pt x="2412479" y="0"/>
                </a:lnTo>
                <a:cubicBezTo>
                  <a:pt x="2453381" y="0"/>
                  <a:pt x="2486538" y="33158"/>
                  <a:pt x="2486538" y="74060"/>
                </a:cubicBezTo>
                <a:lnTo>
                  <a:pt x="2486538" y="1051640"/>
                </a:lnTo>
                <a:cubicBezTo>
                  <a:pt x="2486538" y="1092543"/>
                  <a:pt x="2453381" y="1125700"/>
                  <a:pt x="2412479" y="1125700"/>
                </a:cubicBezTo>
                <a:lnTo>
                  <a:pt x="74060" y="1125700"/>
                </a:lnTo>
                <a:cubicBezTo>
                  <a:pt x="33158" y="1125700"/>
                  <a:pt x="0" y="1092543"/>
                  <a:pt x="0" y="1051640"/>
                </a:cubicBezTo>
                <a:lnTo>
                  <a:pt x="0" y="74060"/>
                </a:lnTo>
                <a:cubicBezTo>
                  <a:pt x="0" y="33185"/>
                  <a:pt x="33185" y="0"/>
                  <a:pt x="74060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20320">
            <a:solidFill>
              <a:srgbClr val="FB2C3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94941" y="2806844"/>
            <a:ext cx="2416182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41228" y="3251200"/>
            <a:ext cx="232360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45857" y="3510407"/>
            <a:ext cx="231435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entropy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8018" y="3936248"/>
            <a:ext cx="5098978" cy="1192354"/>
          </a:xfrm>
          <a:custGeom>
            <a:avLst/>
            <a:gdLst/>
            <a:ahLst/>
            <a:cxnLst/>
            <a:rect l="l" t="t" r="r" b="b"/>
            <a:pathLst>
              <a:path w="5098978" h="1192354">
                <a:moveTo>
                  <a:pt x="74057" y="0"/>
                </a:moveTo>
                <a:lnTo>
                  <a:pt x="5024921" y="0"/>
                </a:lnTo>
                <a:cubicBezTo>
                  <a:pt x="5065821" y="0"/>
                  <a:pt x="5098978" y="33156"/>
                  <a:pt x="5098978" y="74057"/>
                </a:cubicBezTo>
                <a:lnTo>
                  <a:pt x="5098978" y="1118296"/>
                </a:lnTo>
                <a:cubicBezTo>
                  <a:pt x="5098978" y="1159197"/>
                  <a:pt x="5065821" y="1192354"/>
                  <a:pt x="5024921" y="1192354"/>
                </a:cubicBezTo>
                <a:lnTo>
                  <a:pt x="74057" y="1192354"/>
                </a:lnTo>
                <a:cubicBezTo>
                  <a:pt x="33156" y="1192354"/>
                  <a:pt x="0" y="1159197"/>
                  <a:pt x="0" y="1118296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2810" y="4051041"/>
            <a:ext cx="494345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810" y="4347277"/>
            <a:ext cx="80539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14491" y="4402822"/>
            <a:ext cx="3490041" cy="74059"/>
          </a:xfrm>
          <a:custGeom>
            <a:avLst/>
            <a:gdLst/>
            <a:ahLst/>
            <a:cxnLst/>
            <a:rect l="l" t="t" r="r" b="b"/>
            <a:pathLst>
              <a:path w="3490041" h="74059">
                <a:moveTo>
                  <a:pt x="37030" y="0"/>
                </a:moveTo>
                <a:lnTo>
                  <a:pt x="3453011" y="0"/>
                </a:lnTo>
                <a:cubicBezTo>
                  <a:pt x="3473462" y="0"/>
                  <a:pt x="3490041" y="16579"/>
                  <a:pt x="3490041" y="37030"/>
                </a:cubicBezTo>
                <a:lnTo>
                  <a:pt x="3490041" y="37030"/>
                </a:lnTo>
                <a:cubicBezTo>
                  <a:pt x="3490041" y="57481"/>
                  <a:pt x="3473462" y="74059"/>
                  <a:pt x="3453011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213885" y="4347277"/>
            <a:ext cx="481385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810" y="4587970"/>
            <a:ext cx="80539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14491" y="4643514"/>
            <a:ext cx="3508556" cy="74059"/>
          </a:xfrm>
          <a:custGeom>
            <a:avLst/>
            <a:gdLst/>
            <a:ahLst/>
            <a:cxnLst/>
            <a:rect l="l" t="t" r="r" b="b"/>
            <a:pathLst>
              <a:path w="3508556" h="74059">
                <a:moveTo>
                  <a:pt x="37030" y="0"/>
                </a:moveTo>
                <a:lnTo>
                  <a:pt x="3471526" y="0"/>
                </a:lnTo>
                <a:cubicBezTo>
                  <a:pt x="3491977" y="0"/>
                  <a:pt x="3508556" y="16579"/>
                  <a:pt x="3508556" y="37030"/>
                </a:cubicBezTo>
                <a:lnTo>
                  <a:pt x="3508556" y="37030"/>
                </a:lnTo>
                <a:cubicBezTo>
                  <a:pt x="3508556" y="57481"/>
                  <a:pt x="3491977" y="74059"/>
                  <a:pt x="3471526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229970" y="4587970"/>
            <a:ext cx="46287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810" y="4828662"/>
            <a:ext cx="80539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14491" y="4884207"/>
            <a:ext cx="3332665" cy="74059"/>
          </a:xfrm>
          <a:custGeom>
            <a:avLst/>
            <a:gdLst/>
            <a:ahLst/>
            <a:cxnLst/>
            <a:rect l="l" t="t" r="r" b="b"/>
            <a:pathLst>
              <a:path w="3332665" h="74059">
                <a:moveTo>
                  <a:pt x="37030" y="0"/>
                </a:moveTo>
                <a:lnTo>
                  <a:pt x="3295636" y="0"/>
                </a:lnTo>
                <a:cubicBezTo>
                  <a:pt x="3316086" y="0"/>
                  <a:pt x="3332665" y="16579"/>
                  <a:pt x="3332665" y="37030"/>
                </a:cubicBezTo>
                <a:lnTo>
                  <a:pt x="3332665" y="37030"/>
                </a:lnTo>
                <a:cubicBezTo>
                  <a:pt x="3332665" y="57481"/>
                  <a:pt x="3316086" y="74059"/>
                  <a:pt x="3295636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57667" y="4828662"/>
            <a:ext cx="63876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4335" y="5813649"/>
            <a:ext cx="5323007" cy="888711"/>
          </a:xfrm>
          <a:custGeom>
            <a:avLst/>
            <a:gdLst/>
            <a:ahLst/>
            <a:cxnLst/>
            <a:rect l="l" t="t" r="r" b="b"/>
            <a:pathLst>
              <a:path w="5323007" h="888711">
                <a:moveTo>
                  <a:pt x="0" y="0"/>
                </a:moveTo>
                <a:lnTo>
                  <a:pt x="5323007" y="0"/>
                </a:lnTo>
                <a:lnTo>
                  <a:pt x="5323007" y="888711"/>
                </a:lnTo>
                <a:lnTo>
                  <a:pt x="0" y="8887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44335" y="5813649"/>
            <a:ext cx="37030" cy="888711"/>
          </a:xfrm>
          <a:custGeom>
            <a:avLst/>
            <a:gdLst/>
            <a:ahLst/>
            <a:cxnLst/>
            <a:rect l="l" t="t" r="r" b="b"/>
            <a:pathLst>
              <a:path w="37030" h="888711">
                <a:moveTo>
                  <a:pt x="0" y="0"/>
                </a:moveTo>
                <a:lnTo>
                  <a:pt x="37030" y="0"/>
                </a:lnTo>
                <a:lnTo>
                  <a:pt x="37030" y="888711"/>
                </a:lnTo>
                <a:lnTo>
                  <a:pt x="0" y="888711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90139" y="5961768"/>
            <a:ext cx="124975" cy="166633"/>
          </a:xfrm>
          <a:custGeom>
            <a:avLst/>
            <a:gdLst/>
            <a:ahLst/>
            <a:cxnLst/>
            <a:rect l="l" t="t" r="r" b="b"/>
            <a:pathLst>
              <a:path w="124975" h="166633">
                <a:moveTo>
                  <a:pt x="41658" y="31244"/>
                </a:moveTo>
                <a:lnTo>
                  <a:pt x="41658" y="52073"/>
                </a:lnTo>
                <a:lnTo>
                  <a:pt x="83317" y="52073"/>
                </a:lnTo>
                <a:lnTo>
                  <a:pt x="83317" y="31244"/>
                </a:lnTo>
                <a:cubicBezTo>
                  <a:pt x="83317" y="19755"/>
                  <a:pt x="73976" y="10415"/>
                  <a:pt x="62487" y="10415"/>
                </a:cubicBezTo>
                <a:cubicBezTo>
                  <a:pt x="50999" y="10415"/>
                  <a:pt x="41658" y="19755"/>
                  <a:pt x="41658" y="31244"/>
                </a:cubicBezTo>
                <a:close/>
                <a:moveTo>
                  <a:pt x="20829" y="52073"/>
                </a:moveTo>
                <a:lnTo>
                  <a:pt x="20829" y="31244"/>
                </a:lnTo>
                <a:cubicBezTo>
                  <a:pt x="20829" y="8234"/>
                  <a:pt x="39478" y="-10415"/>
                  <a:pt x="62487" y="-10415"/>
                </a:cubicBezTo>
                <a:cubicBezTo>
                  <a:pt x="85497" y="-10415"/>
                  <a:pt x="104146" y="8234"/>
                  <a:pt x="104146" y="31244"/>
                </a:cubicBezTo>
                <a:lnTo>
                  <a:pt x="104146" y="52073"/>
                </a:lnTo>
                <a:cubicBezTo>
                  <a:pt x="115634" y="52073"/>
                  <a:pt x="124975" y="61413"/>
                  <a:pt x="124975" y="72902"/>
                </a:cubicBezTo>
                <a:lnTo>
                  <a:pt x="124975" y="145804"/>
                </a:lnTo>
                <a:cubicBezTo>
                  <a:pt x="124975" y="157293"/>
                  <a:pt x="115634" y="166633"/>
                  <a:pt x="104146" y="166633"/>
                </a:cubicBezTo>
                <a:lnTo>
                  <a:pt x="20829" y="166633"/>
                </a:lnTo>
                <a:cubicBezTo>
                  <a:pt x="9341" y="166633"/>
                  <a:pt x="0" y="157293"/>
                  <a:pt x="0" y="145804"/>
                </a:cubicBezTo>
                <a:lnTo>
                  <a:pt x="0" y="72902"/>
                </a:lnTo>
                <a:cubicBezTo>
                  <a:pt x="0" y="61413"/>
                  <a:pt x="9341" y="52073"/>
                  <a:pt x="20829" y="52073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45991" y="5924738"/>
            <a:ext cx="488790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Entropy Matters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5991" y="6183945"/>
            <a:ext cx="4887909" cy="407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entropy often indicates </a:t>
            </a: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intentional obfuscation</a:t>
            </a:r>
            <a:r>
              <a:rPr lang="en-US" sz="116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common malware tactic to hinder analysis.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5267" y="1225680"/>
            <a:ext cx="5645164" cy="5626650"/>
          </a:xfrm>
          <a:custGeom>
            <a:avLst/>
            <a:gdLst/>
            <a:ahLst/>
            <a:cxnLst/>
            <a:rect l="l" t="t" r="r" b="b"/>
            <a:pathLst>
              <a:path w="5645164" h="5626650">
                <a:moveTo>
                  <a:pt x="74047" y="0"/>
                </a:moveTo>
                <a:lnTo>
                  <a:pt x="5571118" y="0"/>
                </a:lnTo>
                <a:cubicBezTo>
                  <a:pt x="5612013" y="0"/>
                  <a:pt x="5645164" y="33152"/>
                  <a:pt x="5645164" y="74047"/>
                </a:cubicBezTo>
                <a:lnTo>
                  <a:pt x="5645164" y="5552603"/>
                </a:lnTo>
                <a:cubicBezTo>
                  <a:pt x="5645164" y="5593498"/>
                  <a:pt x="5612013" y="5626650"/>
                  <a:pt x="5571118" y="5626650"/>
                </a:cubicBezTo>
                <a:lnTo>
                  <a:pt x="74047" y="5626650"/>
                </a:lnTo>
                <a:cubicBezTo>
                  <a:pt x="33152" y="5626650"/>
                  <a:pt x="0" y="5593498"/>
                  <a:pt x="0" y="5552603"/>
                </a:cubicBezTo>
                <a:lnTo>
                  <a:pt x="0" y="74047"/>
                </a:lnTo>
                <a:cubicBezTo>
                  <a:pt x="0" y="33179"/>
                  <a:pt x="33179" y="0"/>
                  <a:pt x="74047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327088" y="1377502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111091" y="0"/>
                </a:moveTo>
                <a:lnTo>
                  <a:pt x="407324" y="0"/>
                </a:lnTo>
                <a:cubicBezTo>
                  <a:pt x="468636" y="0"/>
                  <a:pt x="518415" y="49778"/>
                  <a:pt x="518415" y="111091"/>
                </a:cubicBezTo>
                <a:lnTo>
                  <a:pt x="518415" y="407324"/>
                </a:lnTo>
                <a:cubicBezTo>
                  <a:pt x="518415" y="468677"/>
                  <a:pt x="468677" y="518415"/>
                  <a:pt x="407324" y="518415"/>
                </a:cubicBezTo>
                <a:lnTo>
                  <a:pt x="111091" y="518415"/>
                </a:lnTo>
                <a:cubicBezTo>
                  <a:pt x="49737" y="518415"/>
                  <a:pt x="0" y="468677"/>
                  <a:pt x="0" y="407324"/>
                </a:cubicBezTo>
                <a:lnTo>
                  <a:pt x="0" y="111091"/>
                </a:lnTo>
                <a:cubicBezTo>
                  <a:pt x="0" y="49778"/>
                  <a:pt x="49778" y="0"/>
                  <a:pt x="11109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447434" y="1525620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956592" y="1377502"/>
            <a:ext cx="1805194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Classification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6592" y="1673624"/>
            <a:ext cx="1768164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0791" y="2010708"/>
            <a:ext cx="5330413" cy="3691852"/>
          </a:xfrm>
          <a:custGeom>
            <a:avLst/>
            <a:gdLst/>
            <a:ahLst/>
            <a:cxnLst/>
            <a:rect l="l" t="t" r="r" b="b"/>
            <a:pathLst>
              <a:path w="5330413" h="3691852">
                <a:moveTo>
                  <a:pt x="74059" y="0"/>
                </a:moveTo>
                <a:lnTo>
                  <a:pt x="5256354" y="0"/>
                </a:lnTo>
                <a:cubicBezTo>
                  <a:pt x="5297256" y="0"/>
                  <a:pt x="5330413" y="33157"/>
                  <a:pt x="5330413" y="74059"/>
                </a:cubicBezTo>
                <a:lnTo>
                  <a:pt x="5330413" y="3617794"/>
                </a:lnTo>
                <a:cubicBezTo>
                  <a:pt x="5330413" y="3658695"/>
                  <a:pt x="5297256" y="3691852"/>
                  <a:pt x="5256354" y="3691852"/>
                </a:cubicBezTo>
                <a:lnTo>
                  <a:pt x="74059" y="3691852"/>
                </a:lnTo>
                <a:cubicBezTo>
                  <a:pt x="33157" y="3691852"/>
                  <a:pt x="0" y="3658695"/>
                  <a:pt x="0" y="3617794"/>
                </a:cubicBezTo>
                <a:lnTo>
                  <a:pt x="0" y="74059"/>
                </a:lnTo>
                <a:cubicBezTo>
                  <a:pt x="0" y="33185"/>
                  <a:pt x="33185" y="0"/>
                  <a:pt x="740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445583" y="2125501"/>
            <a:ext cx="5174888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analyze file characteristics and behavior patterns to identify </a:t>
            </a: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previously unknown threats</a:t>
            </a: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trained features.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2989" y="2688351"/>
            <a:ext cx="2486538" cy="1051641"/>
          </a:xfrm>
          <a:custGeom>
            <a:avLst/>
            <a:gdLst/>
            <a:ahLst/>
            <a:cxnLst/>
            <a:rect l="l" t="t" r="r" b="b"/>
            <a:pathLst>
              <a:path w="2486538" h="1051641">
                <a:moveTo>
                  <a:pt x="74057" y="0"/>
                </a:moveTo>
                <a:lnTo>
                  <a:pt x="2412482" y="0"/>
                </a:lnTo>
                <a:cubicBezTo>
                  <a:pt x="2453382" y="0"/>
                  <a:pt x="2486538" y="33156"/>
                  <a:pt x="2486538" y="74057"/>
                </a:cubicBezTo>
                <a:lnTo>
                  <a:pt x="2486538" y="977584"/>
                </a:lnTo>
                <a:cubicBezTo>
                  <a:pt x="2486538" y="1018485"/>
                  <a:pt x="2453382" y="1051641"/>
                  <a:pt x="2412482" y="1051641"/>
                </a:cubicBezTo>
                <a:lnTo>
                  <a:pt x="74057" y="1051641"/>
                </a:lnTo>
                <a:cubicBezTo>
                  <a:pt x="33156" y="1051641"/>
                  <a:pt x="0" y="1018485"/>
                  <a:pt x="0" y="977584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20320">
            <a:solidFill>
              <a:srgbClr val="FB2C3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71483" y="2806844"/>
            <a:ext cx="2388410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71483" y="3177140"/>
            <a:ext cx="232360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Malicious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71483" y="3436348"/>
            <a:ext cx="231435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× confidence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61030" y="2688351"/>
            <a:ext cx="2486538" cy="1051641"/>
          </a:xfrm>
          <a:custGeom>
            <a:avLst/>
            <a:gdLst/>
            <a:ahLst/>
            <a:cxnLst/>
            <a:rect l="l" t="t" r="r" b="b"/>
            <a:pathLst>
              <a:path w="2486538" h="1051641">
                <a:moveTo>
                  <a:pt x="74057" y="0"/>
                </a:moveTo>
                <a:lnTo>
                  <a:pt x="2412482" y="0"/>
                </a:lnTo>
                <a:cubicBezTo>
                  <a:pt x="2453382" y="0"/>
                  <a:pt x="2486538" y="33156"/>
                  <a:pt x="2486538" y="74057"/>
                </a:cubicBezTo>
                <a:lnTo>
                  <a:pt x="2486538" y="977584"/>
                </a:lnTo>
                <a:cubicBezTo>
                  <a:pt x="2486538" y="1018485"/>
                  <a:pt x="2453382" y="1051641"/>
                  <a:pt x="2412482" y="1051641"/>
                </a:cubicBezTo>
                <a:lnTo>
                  <a:pt x="74057" y="1051641"/>
                </a:lnTo>
                <a:cubicBezTo>
                  <a:pt x="33156" y="1051641"/>
                  <a:pt x="0" y="1018485"/>
                  <a:pt x="0" y="977584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20320">
            <a:solidFill>
              <a:srgbClr val="F0B1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9179526" y="2806844"/>
            <a:ext cx="2388410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79526" y="3177140"/>
            <a:ext cx="232360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79526" y="3436348"/>
            <a:ext cx="231435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× confidence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49286" y="3862189"/>
            <a:ext cx="5098978" cy="1720026"/>
          </a:xfrm>
          <a:custGeom>
            <a:avLst/>
            <a:gdLst/>
            <a:ahLst/>
            <a:cxnLst/>
            <a:rect l="l" t="t" r="r" b="b"/>
            <a:pathLst>
              <a:path w="5098978" h="1720026">
                <a:moveTo>
                  <a:pt x="74064" y="0"/>
                </a:moveTo>
                <a:lnTo>
                  <a:pt x="5024913" y="0"/>
                </a:lnTo>
                <a:cubicBezTo>
                  <a:pt x="5065818" y="0"/>
                  <a:pt x="5098978" y="33160"/>
                  <a:pt x="5098978" y="74064"/>
                </a:cubicBezTo>
                <a:lnTo>
                  <a:pt x="5098978" y="1645961"/>
                </a:lnTo>
                <a:cubicBezTo>
                  <a:pt x="5098978" y="1686866"/>
                  <a:pt x="5065818" y="1720026"/>
                  <a:pt x="5024913" y="1720026"/>
                </a:cubicBezTo>
                <a:lnTo>
                  <a:pt x="74064" y="1720026"/>
                </a:lnTo>
                <a:cubicBezTo>
                  <a:pt x="33160" y="1720026"/>
                  <a:pt x="0" y="1686866"/>
                  <a:pt x="0" y="1645961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564077" y="3976981"/>
            <a:ext cx="494345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Multiplier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64077" y="4291733"/>
            <a:ext cx="186999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Confidence (80-100%)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55749" y="4273218"/>
            <a:ext cx="361039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×1.0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64077" y="4587970"/>
            <a:ext cx="2018114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Confidence (60-79%)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15595" y="4569455"/>
            <a:ext cx="398068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×0.8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64077" y="4884207"/>
            <a:ext cx="1768164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Confidence (40-59%)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16752" y="4865692"/>
            <a:ext cx="398068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×0.6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64077" y="5202661"/>
            <a:ext cx="4869394" cy="7406"/>
          </a:xfrm>
          <a:custGeom>
            <a:avLst/>
            <a:gdLst/>
            <a:ahLst/>
            <a:cxnLst/>
            <a:rect l="l" t="t" r="r" b="b"/>
            <a:pathLst>
              <a:path w="4869394" h="7406">
                <a:moveTo>
                  <a:pt x="0" y="0"/>
                </a:moveTo>
                <a:lnTo>
                  <a:pt x="4869394" y="0"/>
                </a:lnTo>
                <a:lnTo>
                  <a:pt x="4869394" y="7406"/>
                </a:lnTo>
                <a:lnTo>
                  <a:pt x="0" y="7406"/>
                </a:lnTo>
                <a:lnTo>
                  <a:pt x="0" y="0"/>
                </a:lnTo>
                <a:close/>
              </a:path>
            </a:pathLst>
          </a:custGeom>
          <a:solidFill>
            <a:srgbClr val="6C7A89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6531677" y="5280424"/>
            <a:ext cx="493419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Malicious w/ 85% conf. = 20 × 0.85 = </a:t>
            </a:r>
            <a:r>
              <a:rPr lang="en-US" sz="1021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points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45603" y="5813649"/>
            <a:ext cx="5323007" cy="888711"/>
          </a:xfrm>
          <a:custGeom>
            <a:avLst/>
            <a:gdLst/>
            <a:ahLst/>
            <a:cxnLst/>
            <a:rect l="l" t="t" r="r" b="b"/>
            <a:pathLst>
              <a:path w="5323007" h="888711">
                <a:moveTo>
                  <a:pt x="0" y="0"/>
                </a:moveTo>
                <a:lnTo>
                  <a:pt x="5323007" y="0"/>
                </a:lnTo>
                <a:lnTo>
                  <a:pt x="5323007" y="888711"/>
                </a:lnTo>
                <a:lnTo>
                  <a:pt x="0" y="8887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345603" y="5813649"/>
            <a:ext cx="37030" cy="888711"/>
          </a:xfrm>
          <a:custGeom>
            <a:avLst/>
            <a:gdLst/>
            <a:ahLst/>
            <a:cxnLst/>
            <a:rect l="l" t="t" r="r" b="b"/>
            <a:pathLst>
              <a:path w="37030" h="888711">
                <a:moveTo>
                  <a:pt x="0" y="0"/>
                </a:moveTo>
                <a:lnTo>
                  <a:pt x="37030" y="0"/>
                </a:lnTo>
                <a:lnTo>
                  <a:pt x="37030" y="888711"/>
                </a:lnTo>
                <a:lnTo>
                  <a:pt x="0" y="888711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6470578" y="5961768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39055" y="18226"/>
                </a:moveTo>
                <a:cubicBezTo>
                  <a:pt x="39055" y="8169"/>
                  <a:pt x="47224" y="0"/>
                  <a:pt x="57280" y="0"/>
                </a:cubicBezTo>
                <a:lnTo>
                  <a:pt x="65091" y="0"/>
                </a:lnTo>
                <a:cubicBezTo>
                  <a:pt x="70852" y="0"/>
                  <a:pt x="75506" y="4654"/>
                  <a:pt x="75506" y="10415"/>
                </a:cubicBezTo>
                <a:lnTo>
                  <a:pt x="75506" y="156219"/>
                </a:lnTo>
                <a:cubicBezTo>
                  <a:pt x="75506" y="161979"/>
                  <a:pt x="70852" y="166633"/>
                  <a:pt x="65091" y="166633"/>
                </a:cubicBezTo>
                <a:lnTo>
                  <a:pt x="54677" y="166633"/>
                </a:lnTo>
                <a:cubicBezTo>
                  <a:pt x="44978" y="166633"/>
                  <a:pt x="36809" y="159994"/>
                  <a:pt x="34498" y="151011"/>
                </a:cubicBezTo>
                <a:cubicBezTo>
                  <a:pt x="34270" y="151011"/>
                  <a:pt x="34075" y="151011"/>
                  <a:pt x="33847" y="151011"/>
                </a:cubicBezTo>
                <a:cubicBezTo>
                  <a:pt x="19462" y="151011"/>
                  <a:pt x="7811" y="139360"/>
                  <a:pt x="7811" y="124975"/>
                </a:cubicBezTo>
                <a:cubicBezTo>
                  <a:pt x="7811" y="119117"/>
                  <a:pt x="9764" y="113714"/>
                  <a:pt x="13018" y="109353"/>
                </a:cubicBezTo>
                <a:cubicBezTo>
                  <a:pt x="6704" y="104601"/>
                  <a:pt x="2604" y="97051"/>
                  <a:pt x="2604" y="88524"/>
                </a:cubicBezTo>
                <a:cubicBezTo>
                  <a:pt x="2604" y="78467"/>
                  <a:pt x="8332" y="69713"/>
                  <a:pt x="16663" y="65384"/>
                </a:cubicBezTo>
                <a:cubicBezTo>
                  <a:pt x="14353" y="61479"/>
                  <a:pt x="13018" y="56922"/>
                  <a:pt x="13018" y="52073"/>
                </a:cubicBezTo>
                <a:cubicBezTo>
                  <a:pt x="13018" y="37688"/>
                  <a:pt x="24670" y="26036"/>
                  <a:pt x="39055" y="26036"/>
                </a:cubicBezTo>
                <a:lnTo>
                  <a:pt x="39055" y="18226"/>
                </a:lnTo>
                <a:close/>
                <a:moveTo>
                  <a:pt x="127579" y="18226"/>
                </a:moveTo>
                <a:lnTo>
                  <a:pt x="127579" y="26036"/>
                </a:lnTo>
                <a:cubicBezTo>
                  <a:pt x="141964" y="26036"/>
                  <a:pt x="153615" y="37688"/>
                  <a:pt x="153615" y="52073"/>
                </a:cubicBezTo>
                <a:cubicBezTo>
                  <a:pt x="153615" y="56955"/>
                  <a:pt x="152281" y="61511"/>
                  <a:pt x="149970" y="65384"/>
                </a:cubicBezTo>
                <a:cubicBezTo>
                  <a:pt x="158334" y="69713"/>
                  <a:pt x="164030" y="78435"/>
                  <a:pt x="164030" y="88524"/>
                </a:cubicBezTo>
                <a:cubicBezTo>
                  <a:pt x="164030" y="97051"/>
                  <a:pt x="159929" y="104601"/>
                  <a:pt x="153615" y="109353"/>
                </a:cubicBezTo>
                <a:cubicBezTo>
                  <a:pt x="156870" y="113714"/>
                  <a:pt x="158822" y="119117"/>
                  <a:pt x="158822" y="124975"/>
                </a:cubicBezTo>
                <a:cubicBezTo>
                  <a:pt x="158822" y="139360"/>
                  <a:pt x="147171" y="151011"/>
                  <a:pt x="132786" y="151011"/>
                </a:cubicBezTo>
                <a:cubicBezTo>
                  <a:pt x="132558" y="151011"/>
                  <a:pt x="132363" y="151011"/>
                  <a:pt x="132135" y="151011"/>
                </a:cubicBezTo>
                <a:cubicBezTo>
                  <a:pt x="129824" y="159994"/>
                  <a:pt x="121655" y="166633"/>
                  <a:pt x="111957" y="166633"/>
                </a:cubicBezTo>
                <a:lnTo>
                  <a:pt x="101542" y="166633"/>
                </a:lnTo>
                <a:cubicBezTo>
                  <a:pt x="95782" y="166633"/>
                  <a:pt x="91128" y="161979"/>
                  <a:pt x="91128" y="156219"/>
                </a:cubicBezTo>
                <a:lnTo>
                  <a:pt x="91128" y="10415"/>
                </a:lnTo>
                <a:cubicBezTo>
                  <a:pt x="91128" y="4654"/>
                  <a:pt x="95782" y="0"/>
                  <a:pt x="101542" y="0"/>
                </a:cubicBezTo>
                <a:lnTo>
                  <a:pt x="109353" y="0"/>
                </a:lnTo>
                <a:cubicBezTo>
                  <a:pt x="119410" y="0"/>
                  <a:pt x="127579" y="8169"/>
                  <a:pt x="127579" y="18226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747837" y="5924738"/>
            <a:ext cx="488790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Intelligence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47837" y="6183945"/>
            <a:ext cx="4887909" cy="407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</a:t>
            </a:r>
            <a:r>
              <a:rPr lang="en-US" sz="1166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learn</a:t>
            </a:r>
            <a:r>
              <a:rPr lang="en-US" sz="116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new threats, enabling detection of evolving malware families.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770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GATHERING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7800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VirusTotal Integration &amp; Suspicious String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627370" cy="5208270"/>
          </a:xfrm>
          <a:custGeom>
            <a:avLst/>
            <a:gdLst/>
            <a:ahLst/>
            <a:cxnLst/>
            <a:rect l="l" t="t" r="r" b="b"/>
            <a:pathLst>
              <a:path w="5627370" h="5208270">
                <a:moveTo>
                  <a:pt x="76197" y="0"/>
                </a:moveTo>
                <a:lnTo>
                  <a:pt x="5551173" y="0"/>
                </a:lnTo>
                <a:cubicBezTo>
                  <a:pt x="5593255" y="0"/>
                  <a:pt x="5627370" y="34115"/>
                  <a:pt x="5627370" y="76197"/>
                </a:cubicBezTo>
                <a:lnTo>
                  <a:pt x="5627370" y="5132073"/>
                </a:lnTo>
                <a:cubicBezTo>
                  <a:pt x="5627370" y="5174155"/>
                  <a:pt x="5593255" y="5208270"/>
                  <a:pt x="5551173" y="5208270"/>
                </a:cubicBezTo>
                <a:lnTo>
                  <a:pt x="76197" y="5208270"/>
                </a:lnTo>
                <a:cubicBezTo>
                  <a:pt x="34115" y="5208270"/>
                  <a:pt x="0" y="5174155"/>
                  <a:pt x="0" y="513207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1020" y="1417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93420" y="1569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295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VirusTotal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22002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Collective Intelligence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830" y="2068830"/>
            <a:ext cx="5313045" cy="2779395"/>
          </a:xfrm>
          <a:custGeom>
            <a:avLst/>
            <a:gdLst/>
            <a:ahLst/>
            <a:cxnLst/>
            <a:rect l="l" t="t" r="r" b="b"/>
            <a:pathLst>
              <a:path w="5313045" h="2779395">
                <a:moveTo>
                  <a:pt x="76211" y="0"/>
                </a:moveTo>
                <a:lnTo>
                  <a:pt x="5236834" y="0"/>
                </a:lnTo>
                <a:cubicBezTo>
                  <a:pt x="5278924" y="0"/>
                  <a:pt x="5313045" y="34121"/>
                  <a:pt x="5313045" y="76211"/>
                </a:cubicBezTo>
                <a:lnTo>
                  <a:pt x="5313045" y="2703184"/>
                </a:lnTo>
                <a:cubicBezTo>
                  <a:pt x="5313045" y="2745274"/>
                  <a:pt x="5278924" y="2779395"/>
                  <a:pt x="5236834" y="2779395"/>
                </a:cubicBezTo>
                <a:lnTo>
                  <a:pt x="76211" y="2779395"/>
                </a:lnTo>
                <a:cubicBezTo>
                  <a:pt x="34149" y="2779395"/>
                  <a:pt x="0" y="2745246"/>
                  <a:pt x="0" y="2703184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2940" y="2186941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 aggregates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results from 70+ security vendors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score reflects the ratio of positive detections to total engines scanned.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6750" y="2762251"/>
            <a:ext cx="5065395" cy="1264920"/>
          </a:xfrm>
          <a:custGeom>
            <a:avLst/>
            <a:gdLst/>
            <a:ahLst/>
            <a:cxnLst/>
            <a:rect l="l" t="t" r="r" b="b"/>
            <a:pathLst>
              <a:path w="5065395" h="1264920">
                <a:moveTo>
                  <a:pt x="76199" y="0"/>
                </a:moveTo>
                <a:lnTo>
                  <a:pt x="4989196" y="0"/>
                </a:lnTo>
                <a:cubicBezTo>
                  <a:pt x="5031280" y="0"/>
                  <a:pt x="5065395" y="34115"/>
                  <a:pt x="5065395" y="76199"/>
                </a:cubicBezTo>
                <a:lnTo>
                  <a:pt x="5065395" y="1188721"/>
                </a:lnTo>
                <a:cubicBezTo>
                  <a:pt x="5065395" y="1230805"/>
                  <a:pt x="5031280" y="1264920"/>
                  <a:pt x="4989196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6760" y="2880359"/>
            <a:ext cx="490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 Formula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710" y="3185159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(detections / total) × 20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4860" y="3566040"/>
            <a:ext cx="4829175" cy="342900"/>
          </a:xfrm>
          <a:custGeom>
            <a:avLst/>
            <a:gdLst/>
            <a:ahLst/>
            <a:cxnLst/>
            <a:rect l="l" t="t" r="r" b="b"/>
            <a:pathLst>
              <a:path w="4829175" h="342900">
                <a:moveTo>
                  <a:pt x="76199" y="0"/>
                </a:moveTo>
                <a:lnTo>
                  <a:pt x="4752976" y="0"/>
                </a:lnTo>
                <a:cubicBezTo>
                  <a:pt x="4795059" y="0"/>
                  <a:pt x="4829175" y="34116"/>
                  <a:pt x="4829175" y="76199"/>
                </a:cubicBezTo>
                <a:lnTo>
                  <a:pt x="4829175" y="266701"/>
                </a:lnTo>
                <a:cubicBezTo>
                  <a:pt x="4829175" y="308784"/>
                  <a:pt x="4795059" y="342900"/>
                  <a:pt x="47529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7723" y="3642240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35/70 engines × 20 = </a:t>
            </a: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6750" y="4110871"/>
            <a:ext cx="1636395" cy="617220"/>
          </a:xfrm>
          <a:custGeom>
            <a:avLst/>
            <a:gdLst/>
            <a:ahLst/>
            <a:cxnLst/>
            <a:rect l="l" t="t" r="r" b="b"/>
            <a:pathLst>
              <a:path w="1636395" h="617220">
                <a:moveTo>
                  <a:pt x="38101" y="0"/>
                </a:moveTo>
                <a:lnTo>
                  <a:pt x="1598294" y="0"/>
                </a:lnTo>
                <a:cubicBezTo>
                  <a:pt x="1619337" y="0"/>
                  <a:pt x="1636395" y="17058"/>
                  <a:pt x="1636395" y="38101"/>
                </a:cubicBezTo>
                <a:lnTo>
                  <a:pt x="1636395" y="579119"/>
                </a:lnTo>
                <a:cubicBezTo>
                  <a:pt x="1636395" y="600162"/>
                  <a:pt x="1619337" y="617220"/>
                  <a:pt x="1598294" y="617220"/>
                </a:cubicBezTo>
                <a:lnTo>
                  <a:pt x="38101" y="617220"/>
                </a:lnTo>
                <a:cubicBezTo>
                  <a:pt x="17058" y="617220"/>
                  <a:pt x="0" y="600162"/>
                  <a:pt x="0" y="57911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0160">
            <a:solidFill>
              <a:srgbClr val="00C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99135" y="4190881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423" y="445758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83750" y="4110871"/>
            <a:ext cx="1636395" cy="617220"/>
          </a:xfrm>
          <a:custGeom>
            <a:avLst/>
            <a:gdLst/>
            <a:ahLst/>
            <a:cxnLst/>
            <a:rect l="l" t="t" r="r" b="b"/>
            <a:pathLst>
              <a:path w="1636395" h="617220">
                <a:moveTo>
                  <a:pt x="38101" y="0"/>
                </a:moveTo>
                <a:lnTo>
                  <a:pt x="1598294" y="0"/>
                </a:lnTo>
                <a:cubicBezTo>
                  <a:pt x="1619337" y="0"/>
                  <a:pt x="1636395" y="17058"/>
                  <a:pt x="1636395" y="38101"/>
                </a:cubicBezTo>
                <a:lnTo>
                  <a:pt x="1636395" y="579119"/>
                </a:lnTo>
                <a:cubicBezTo>
                  <a:pt x="1636395" y="600162"/>
                  <a:pt x="1619337" y="617220"/>
                  <a:pt x="1598294" y="617220"/>
                </a:cubicBezTo>
                <a:lnTo>
                  <a:pt x="38101" y="617220"/>
                </a:lnTo>
                <a:cubicBezTo>
                  <a:pt x="17058" y="617220"/>
                  <a:pt x="0" y="600162"/>
                  <a:pt x="0" y="57911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10160">
            <a:solidFill>
              <a:srgbClr val="F0B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416135" y="4190881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30423" y="445758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00751" y="4110871"/>
            <a:ext cx="1636395" cy="617220"/>
          </a:xfrm>
          <a:custGeom>
            <a:avLst/>
            <a:gdLst/>
            <a:ahLst/>
            <a:cxnLst/>
            <a:rect l="l" t="t" r="r" b="b"/>
            <a:pathLst>
              <a:path w="1636395" h="617220">
                <a:moveTo>
                  <a:pt x="38101" y="0"/>
                </a:moveTo>
                <a:lnTo>
                  <a:pt x="1598294" y="0"/>
                </a:lnTo>
                <a:cubicBezTo>
                  <a:pt x="1619337" y="0"/>
                  <a:pt x="1636395" y="17058"/>
                  <a:pt x="1636395" y="38101"/>
                </a:cubicBezTo>
                <a:lnTo>
                  <a:pt x="1636395" y="579119"/>
                </a:lnTo>
                <a:cubicBezTo>
                  <a:pt x="1636395" y="600162"/>
                  <a:pt x="1619337" y="617220"/>
                  <a:pt x="1598294" y="617220"/>
                </a:cubicBezTo>
                <a:lnTo>
                  <a:pt x="38101" y="617220"/>
                </a:lnTo>
                <a:cubicBezTo>
                  <a:pt x="17058" y="617220"/>
                  <a:pt x="0" y="600162"/>
                  <a:pt x="0" y="57911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133136" y="4190881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16-20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47423" y="445758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0070" y="5612130"/>
            <a:ext cx="5295900" cy="704850"/>
          </a:xfrm>
          <a:custGeom>
            <a:avLst/>
            <a:gdLst/>
            <a:ahLst/>
            <a:cxnLst/>
            <a:rect l="l" t="t" r="r" b="b"/>
            <a:pathLst>
              <a:path w="5295900" h="704850">
                <a:moveTo>
                  <a:pt x="0" y="0"/>
                </a:moveTo>
                <a:lnTo>
                  <a:pt x="5295900" y="0"/>
                </a:lnTo>
                <a:lnTo>
                  <a:pt x="529590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60070" y="561213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95801" y="576453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22033" y="5726430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Crowdsourced Detection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2033" y="599313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broad-spectrum validation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multiple security vendors.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1261110"/>
            <a:ext cx="5627370" cy="5208270"/>
          </a:xfrm>
          <a:custGeom>
            <a:avLst/>
            <a:gdLst/>
            <a:ahLst/>
            <a:cxnLst/>
            <a:rect l="l" t="t" r="r" b="b"/>
            <a:pathLst>
              <a:path w="5627370" h="5208270">
                <a:moveTo>
                  <a:pt x="76197" y="0"/>
                </a:moveTo>
                <a:lnTo>
                  <a:pt x="5551173" y="0"/>
                </a:lnTo>
                <a:cubicBezTo>
                  <a:pt x="5593255" y="0"/>
                  <a:pt x="5627370" y="34115"/>
                  <a:pt x="5627370" y="76197"/>
                </a:cubicBezTo>
                <a:lnTo>
                  <a:pt x="5627370" y="5132073"/>
                </a:lnTo>
                <a:cubicBezTo>
                  <a:pt x="5627370" y="5174155"/>
                  <a:pt x="5593255" y="5208270"/>
                  <a:pt x="5551173" y="5208270"/>
                </a:cubicBezTo>
                <a:lnTo>
                  <a:pt x="76197" y="5208270"/>
                </a:lnTo>
                <a:cubicBezTo>
                  <a:pt x="34115" y="5208270"/>
                  <a:pt x="0" y="5174155"/>
                  <a:pt x="0" y="513207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332220" y="1417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484620" y="1569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979920" y="141732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Strings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9920" y="1722002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6030" y="2068830"/>
            <a:ext cx="5313045" cy="2893695"/>
          </a:xfrm>
          <a:custGeom>
            <a:avLst/>
            <a:gdLst/>
            <a:ahLst/>
            <a:cxnLst/>
            <a:rect l="l" t="t" r="r" b="b"/>
            <a:pathLst>
              <a:path w="5313045" h="2893695">
                <a:moveTo>
                  <a:pt x="76191" y="0"/>
                </a:moveTo>
                <a:lnTo>
                  <a:pt x="5236854" y="0"/>
                </a:lnTo>
                <a:cubicBezTo>
                  <a:pt x="5278933" y="0"/>
                  <a:pt x="5313045" y="34112"/>
                  <a:pt x="5313045" y="76191"/>
                </a:cubicBezTo>
                <a:lnTo>
                  <a:pt x="5313045" y="2817504"/>
                </a:lnTo>
                <a:cubicBezTo>
                  <a:pt x="5313045" y="2859583"/>
                  <a:pt x="5278933" y="2893695"/>
                  <a:pt x="5236854" y="2893695"/>
                </a:cubicBezTo>
                <a:lnTo>
                  <a:pt x="76191" y="2893695"/>
                </a:lnTo>
                <a:cubicBezTo>
                  <a:pt x="34112" y="2893695"/>
                  <a:pt x="0" y="2859583"/>
                  <a:pt x="0" y="281750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54140" y="2186941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string analysis identifies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text patterns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URLs, file paths, and registry keys that may indicate malicious functionality.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7950" y="2762251"/>
            <a:ext cx="5065395" cy="1036320"/>
          </a:xfrm>
          <a:custGeom>
            <a:avLst/>
            <a:gdLst/>
            <a:ahLst/>
            <a:cxnLst/>
            <a:rect l="l" t="t" r="r" b="b"/>
            <a:pathLst>
              <a:path w="5065395" h="1036320">
                <a:moveTo>
                  <a:pt x="76201" y="0"/>
                </a:moveTo>
                <a:lnTo>
                  <a:pt x="4989194" y="0"/>
                </a:lnTo>
                <a:cubicBezTo>
                  <a:pt x="5031279" y="0"/>
                  <a:pt x="5065395" y="34116"/>
                  <a:pt x="5065395" y="76201"/>
                </a:cubicBezTo>
                <a:lnTo>
                  <a:pt x="5065395" y="960119"/>
                </a:lnTo>
                <a:cubicBezTo>
                  <a:pt x="5065395" y="1002204"/>
                  <a:pt x="5031279" y="1036320"/>
                  <a:pt x="4989194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576060" y="2880359"/>
            <a:ext cx="490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Formula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76060" y="3147059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min(suspicious_count, 10)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76060" y="3489840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unique suspicious string adds 1 point, capped at 10.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7950" y="3882271"/>
            <a:ext cx="5065395" cy="960120"/>
          </a:xfrm>
          <a:custGeom>
            <a:avLst/>
            <a:gdLst/>
            <a:ahLst/>
            <a:cxnLst/>
            <a:rect l="l" t="t" r="r" b="b"/>
            <a:pathLst>
              <a:path w="5065395" h="960120">
                <a:moveTo>
                  <a:pt x="76205" y="0"/>
                </a:moveTo>
                <a:lnTo>
                  <a:pt x="4989190" y="0"/>
                </a:lnTo>
                <a:cubicBezTo>
                  <a:pt x="5031277" y="0"/>
                  <a:pt x="5065395" y="34118"/>
                  <a:pt x="5065395" y="76205"/>
                </a:cubicBezTo>
                <a:lnTo>
                  <a:pt x="5065395" y="883915"/>
                </a:lnTo>
                <a:cubicBezTo>
                  <a:pt x="5065395" y="926002"/>
                  <a:pt x="5031277" y="960120"/>
                  <a:pt x="49891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76060" y="4000381"/>
            <a:ext cx="490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Suspicious Strings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11779" y="4343281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795135" y="4305181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Malicious URLs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84469" y="4343281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9267825" y="4305181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Registry keys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11779" y="4571881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795135" y="4533781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paths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84469" y="4571881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9267825" y="4533781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addresses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1270" y="5612130"/>
            <a:ext cx="5295900" cy="704850"/>
          </a:xfrm>
          <a:custGeom>
            <a:avLst/>
            <a:gdLst/>
            <a:ahLst/>
            <a:cxnLst/>
            <a:rect l="l" t="t" r="r" b="b"/>
            <a:pathLst>
              <a:path w="5295900" h="704850">
                <a:moveTo>
                  <a:pt x="0" y="0"/>
                </a:moveTo>
                <a:lnTo>
                  <a:pt x="5295900" y="0"/>
                </a:lnTo>
                <a:lnTo>
                  <a:pt x="529590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351270" y="561213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508432" y="576453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813232" y="572643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Indicator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13232" y="5993130"/>
            <a:ext cx="462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indicator of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potentially harmful functionality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execution.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546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 Anomalies &amp; Structural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0"/>
            <a:ext cx="5627370" cy="4179570"/>
          </a:xfrm>
          <a:custGeom>
            <a:avLst/>
            <a:gdLst/>
            <a:ahLst/>
            <a:cxnLst/>
            <a:rect l="l" t="t" r="r" b="b"/>
            <a:pathLst>
              <a:path w="5627370" h="4179570">
                <a:moveTo>
                  <a:pt x="76194" y="0"/>
                </a:moveTo>
                <a:lnTo>
                  <a:pt x="5551176" y="0"/>
                </a:lnTo>
                <a:cubicBezTo>
                  <a:pt x="5593257" y="0"/>
                  <a:pt x="5627370" y="34113"/>
                  <a:pt x="5627370" y="76194"/>
                </a:cubicBezTo>
                <a:lnTo>
                  <a:pt x="5627370" y="4103376"/>
                </a:lnTo>
                <a:cubicBezTo>
                  <a:pt x="5627370" y="4145457"/>
                  <a:pt x="5593257" y="4179570"/>
                  <a:pt x="5551176" y="4179570"/>
                </a:cubicBezTo>
                <a:lnTo>
                  <a:pt x="76194" y="4179570"/>
                </a:lnTo>
                <a:cubicBezTo>
                  <a:pt x="34113" y="4179570"/>
                  <a:pt x="0" y="4145457"/>
                  <a:pt x="0" y="410337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1020" y="14554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21995" y="16078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88720" y="1455420"/>
            <a:ext cx="2352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 Anomaly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60102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Integrity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830" y="2106930"/>
            <a:ext cx="5313045" cy="3217545"/>
          </a:xfrm>
          <a:custGeom>
            <a:avLst/>
            <a:gdLst/>
            <a:ahLst/>
            <a:cxnLst/>
            <a:rect l="l" t="t" r="r" b="b"/>
            <a:pathLst>
              <a:path w="5313045" h="3217545">
                <a:moveTo>
                  <a:pt x="76191" y="0"/>
                </a:moveTo>
                <a:lnTo>
                  <a:pt x="5236854" y="0"/>
                </a:lnTo>
                <a:cubicBezTo>
                  <a:pt x="5278933" y="0"/>
                  <a:pt x="5313045" y="34112"/>
                  <a:pt x="5313045" y="76191"/>
                </a:cubicBezTo>
                <a:lnTo>
                  <a:pt x="5313045" y="3141354"/>
                </a:lnTo>
                <a:cubicBezTo>
                  <a:pt x="5313045" y="3183433"/>
                  <a:pt x="5278933" y="3217545"/>
                  <a:pt x="5236854" y="3217545"/>
                </a:cubicBezTo>
                <a:lnTo>
                  <a:pt x="76191" y="3217545"/>
                </a:lnTo>
                <a:cubicBezTo>
                  <a:pt x="34112" y="3217545"/>
                  <a:pt x="0" y="3183433"/>
                  <a:pt x="0" y="314135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2940" y="2225039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Portable Executable (PE) analysis identifies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abnormalities</a:t>
            </a: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Windows executables that may indicate tampering or malicious compilation.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6750" y="2838449"/>
            <a:ext cx="5065395" cy="922020"/>
          </a:xfrm>
          <a:custGeom>
            <a:avLst/>
            <a:gdLst/>
            <a:ahLst/>
            <a:cxnLst/>
            <a:rect l="l" t="t" r="r" b="b"/>
            <a:pathLst>
              <a:path w="5065395" h="922020">
                <a:moveTo>
                  <a:pt x="76196" y="0"/>
                </a:moveTo>
                <a:lnTo>
                  <a:pt x="4989199" y="0"/>
                </a:lnTo>
                <a:cubicBezTo>
                  <a:pt x="5031281" y="0"/>
                  <a:pt x="5065395" y="34114"/>
                  <a:pt x="5065395" y="76196"/>
                </a:cubicBezTo>
                <a:lnTo>
                  <a:pt x="5065395" y="845824"/>
                </a:lnTo>
                <a:cubicBezTo>
                  <a:pt x="5065395" y="887906"/>
                  <a:pt x="5031281" y="922020"/>
                  <a:pt x="498919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08660" y="2918461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Formula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9610" y="3185161"/>
            <a:ext cx="501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points × anomaly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423" y="3489840"/>
            <a:ext cx="497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Maximum: 5 anomalies (10 points)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6750" y="3882273"/>
            <a:ext cx="2493645" cy="617220"/>
          </a:xfrm>
          <a:custGeom>
            <a:avLst/>
            <a:gdLst/>
            <a:ahLst/>
            <a:cxnLst/>
            <a:rect l="l" t="t" r="r" b="b"/>
            <a:pathLst>
              <a:path w="2493645" h="617220">
                <a:moveTo>
                  <a:pt x="76202" y="0"/>
                </a:moveTo>
                <a:lnTo>
                  <a:pt x="2417443" y="0"/>
                </a:lnTo>
                <a:cubicBezTo>
                  <a:pt x="2459528" y="0"/>
                  <a:pt x="2493645" y="34117"/>
                  <a:pt x="2493645" y="76202"/>
                </a:cubicBezTo>
                <a:lnTo>
                  <a:pt x="2493645" y="541018"/>
                </a:lnTo>
                <a:cubicBezTo>
                  <a:pt x="2493645" y="583103"/>
                  <a:pt x="2459528" y="617220"/>
                  <a:pt x="24174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46760" y="3962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13423" y="3962281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96228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Malformed Header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6760" y="4228981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PE headers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2310" y="3882273"/>
            <a:ext cx="2493645" cy="617220"/>
          </a:xfrm>
          <a:custGeom>
            <a:avLst/>
            <a:gdLst/>
            <a:ahLst/>
            <a:cxnLst/>
            <a:rect l="l" t="t" r="r" b="b"/>
            <a:pathLst>
              <a:path w="2493645" h="617220">
                <a:moveTo>
                  <a:pt x="76202" y="0"/>
                </a:moveTo>
                <a:lnTo>
                  <a:pt x="2417443" y="0"/>
                </a:lnTo>
                <a:cubicBezTo>
                  <a:pt x="2459528" y="0"/>
                  <a:pt x="2493645" y="34117"/>
                  <a:pt x="2493645" y="76202"/>
                </a:cubicBezTo>
                <a:lnTo>
                  <a:pt x="2493645" y="541018"/>
                </a:lnTo>
                <a:cubicBezTo>
                  <a:pt x="2493645" y="583103"/>
                  <a:pt x="2459528" y="617220"/>
                  <a:pt x="24174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322320" y="3962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88983" y="3962281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7120" y="3962281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Mismatch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22320" y="4228981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size/offset errors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6750" y="4583310"/>
            <a:ext cx="2493645" cy="617220"/>
          </a:xfrm>
          <a:custGeom>
            <a:avLst/>
            <a:gdLst/>
            <a:ahLst/>
            <a:cxnLst/>
            <a:rect l="l" t="t" r="r" b="b"/>
            <a:pathLst>
              <a:path w="2493645" h="617220">
                <a:moveTo>
                  <a:pt x="76202" y="0"/>
                </a:moveTo>
                <a:lnTo>
                  <a:pt x="2417443" y="0"/>
                </a:lnTo>
                <a:cubicBezTo>
                  <a:pt x="2459528" y="0"/>
                  <a:pt x="2493645" y="34117"/>
                  <a:pt x="2493645" y="76202"/>
                </a:cubicBezTo>
                <a:lnTo>
                  <a:pt x="2493645" y="541018"/>
                </a:lnTo>
                <a:cubicBezTo>
                  <a:pt x="2493645" y="583103"/>
                  <a:pt x="2459528" y="617220"/>
                  <a:pt x="24174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46760" y="46633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13423" y="466332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4663322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Checksum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6760" y="4930022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 verification fails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42310" y="4583310"/>
            <a:ext cx="2493645" cy="617220"/>
          </a:xfrm>
          <a:custGeom>
            <a:avLst/>
            <a:gdLst/>
            <a:ahLst/>
            <a:cxnLst/>
            <a:rect l="l" t="t" r="r" b="b"/>
            <a:pathLst>
              <a:path w="2493645" h="617220">
                <a:moveTo>
                  <a:pt x="76202" y="0"/>
                </a:moveTo>
                <a:lnTo>
                  <a:pt x="2417443" y="0"/>
                </a:lnTo>
                <a:cubicBezTo>
                  <a:pt x="2459528" y="0"/>
                  <a:pt x="2493645" y="34117"/>
                  <a:pt x="2493645" y="76202"/>
                </a:cubicBezTo>
                <a:lnTo>
                  <a:pt x="2493645" y="541018"/>
                </a:lnTo>
                <a:cubicBezTo>
                  <a:pt x="2493645" y="583103"/>
                  <a:pt x="2459528" y="617220"/>
                  <a:pt x="24174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322320" y="46633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288983" y="466332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27120" y="4663322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Extension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22320" y="4930022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Trickery like .jpg.exe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6010" y="1299210"/>
            <a:ext cx="5627370" cy="3989070"/>
          </a:xfrm>
          <a:custGeom>
            <a:avLst/>
            <a:gdLst/>
            <a:ahLst/>
            <a:cxnLst/>
            <a:rect l="l" t="t" r="r" b="b"/>
            <a:pathLst>
              <a:path w="5627370" h="3989070">
                <a:moveTo>
                  <a:pt x="76191" y="0"/>
                </a:moveTo>
                <a:lnTo>
                  <a:pt x="5551179" y="0"/>
                </a:lnTo>
                <a:cubicBezTo>
                  <a:pt x="5593258" y="0"/>
                  <a:pt x="5627370" y="34112"/>
                  <a:pt x="5627370" y="76191"/>
                </a:cubicBezTo>
                <a:lnTo>
                  <a:pt x="5627370" y="3912879"/>
                </a:lnTo>
                <a:cubicBezTo>
                  <a:pt x="5627370" y="3954958"/>
                  <a:pt x="5593258" y="3989070"/>
                  <a:pt x="5551179" y="3989070"/>
                </a:cubicBezTo>
                <a:lnTo>
                  <a:pt x="76191" y="3989070"/>
                </a:lnTo>
                <a:cubicBezTo>
                  <a:pt x="34112" y="3989070"/>
                  <a:pt x="0" y="3954958"/>
                  <a:pt x="0" y="391287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284595" y="1455420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PE Anomalies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1270" y="1836420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351270" y="183642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484620" y="19507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451282" y="195072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20" y="198882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Point Mismatch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84620" y="229362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point outside code section, often indicating packed/encrypted content.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1270" y="2674620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351270" y="267462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484620" y="27889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451282" y="278892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03720" y="282702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Overlay Data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84620" y="313182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data appended after PE, common in packed/obfuscated malware.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1270" y="3512820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6351270" y="351282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6484620" y="36271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451282" y="362712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03720" y="366522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 Table Anomaly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84620" y="397002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Sparse or obfuscated import table suggesting API obfuscation.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1270" y="4351020"/>
            <a:ext cx="5295900" cy="762000"/>
          </a:xfrm>
          <a:custGeom>
            <a:avLst/>
            <a:gdLst/>
            <a:ahLst/>
            <a:cxnLst/>
            <a:rect l="l" t="t" r="r" b="b"/>
            <a:pathLst>
              <a:path w="5295900" h="762000">
                <a:moveTo>
                  <a:pt x="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685800"/>
                </a:lnTo>
                <a:cubicBezTo>
                  <a:pt x="5295900" y="727856"/>
                  <a:pt x="5261756" y="762000"/>
                  <a:pt x="521970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351270" y="435102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484620" y="44653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451282" y="446532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03720" y="450342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Manipulation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84620" y="480822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Executable resources or malformed resource sections.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91250" y="5448302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619750" y="0"/>
                </a:lnTo>
                <a:lnTo>
                  <a:pt x="56197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6191250" y="5448302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6372225" y="56388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687264" y="5600702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Red Flags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87264" y="5905502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anomalies reveal </a:t>
            </a: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intentional manipulation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often for evasion or malicious purposes.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595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604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Thresholds &amp; Risk Levels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303020"/>
            <a:ext cx="3691890" cy="4253865"/>
          </a:xfrm>
          <a:custGeom>
            <a:avLst/>
            <a:gdLst/>
            <a:ahLst/>
            <a:cxnLst/>
            <a:rect l="l" t="t" r="r" b="b"/>
            <a:pathLst>
              <a:path w="3691890" h="4253865">
                <a:moveTo>
                  <a:pt x="76201" y="0"/>
                </a:moveTo>
                <a:lnTo>
                  <a:pt x="3615689" y="0"/>
                </a:lnTo>
                <a:cubicBezTo>
                  <a:pt x="3657774" y="0"/>
                  <a:pt x="3691890" y="34116"/>
                  <a:pt x="3691890" y="76201"/>
                </a:cubicBezTo>
                <a:lnTo>
                  <a:pt x="3691890" y="4177664"/>
                </a:lnTo>
                <a:cubicBezTo>
                  <a:pt x="3691890" y="4219749"/>
                  <a:pt x="3657774" y="4253865"/>
                  <a:pt x="3615689" y="4253865"/>
                </a:cubicBezTo>
                <a:lnTo>
                  <a:pt x="76201" y="4253865"/>
                </a:lnTo>
                <a:cubicBezTo>
                  <a:pt x="34116" y="4253865"/>
                  <a:pt x="0" y="4219749"/>
                  <a:pt x="0" y="417766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>
                  <a:alpha val="20000"/>
                </a:srgbClr>
              </a:gs>
              <a:gs pos="100000">
                <a:srgbClr val="008236">
                  <a:alpha val="10000"/>
                </a:srgbClr>
              </a:gs>
            </a:gsLst>
            <a:lin ang="2700000" scaled="1"/>
          </a:gradFill>
          <a:ln w="2032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463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01040" y="16154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96340" y="1463036"/>
            <a:ext cx="94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6340" y="176772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14546"/>
            <a:ext cx="3369945" cy="998220"/>
          </a:xfrm>
          <a:custGeom>
            <a:avLst/>
            <a:gdLst/>
            <a:ahLst/>
            <a:cxnLst/>
            <a:rect l="l" t="t" r="r" b="b"/>
            <a:pathLst>
              <a:path w="3369945" h="998220">
                <a:moveTo>
                  <a:pt x="76204" y="0"/>
                </a:moveTo>
                <a:lnTo>
                  <a:pt x="3293741" y="0"/>
                </a:lnTo>
                <a:cubicBezTo>
                  <a:pt x="3335827" y="0"/>
                  <a:pt x="3369945" y="34118"/>
                  <a:pt x="3369945" y="76204"/>
                </a:cubicBezTo>
                <a:lnTo>
                  <a:pt x="3369945" y="922016"/>
                </a:lnTo>
                <a:cubicBezTo>
                  <a:pt x="3369945" y="964102"/>
                  <a:pt x="3335827" y="998220"/>
                  <a:pt x="32937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00C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56260" y="2232659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0-39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7698" y="2727959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234687"/>
            <a:ext cx="3369945" cy="2160270"/>
          </a:xfrm>
          <a:custGeom>
            <a:avLst/>
            <a:gdLst/>
            <a:ahLst/>
            <a:cxnLst/>
            <a:rect l="l" t="t" r="r" b="b"/>
            <a:pathLst>
              <a:path w="3369945" h="2160270">
                <a:moveTo>
                  <a:pt x="76193" y="0"/>
                </a:moveTo>
                <a:lnTo>
                  <a:pt x="3293752" y="0"/>
                </a:lnTo>
                <a:cubicBezTo>
                  <a:pt x="3335832" y="0"/>
                  <a:pt x="3369945" y="34113"/>
                  <a:pt x="3369945" y="76193"/>
                </a:cubicBezTo>
                <a:lnTo>
                  <a:pt x="3369945" y="2084077"/>
                </a:lnTo>
                <a:cubicBezTo>
                  <a:pt x="3369945" y="2126157"/>
                  <a:pt x="3335832" y="2160270"/>
                  <a:pt x="3293752" y="2160270"/>
                </a:cubicBezTo>
                <a:lnTo>
                  <a:pt x="76193" y="2160270"/>
                </a:lnTo>
                <a:cubicBezTo>
                  <a:pt x="34113" y="2160270"/>
                  <a:pt x="0" y="2126157"/>
                  <a:pt x="0" y="208407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1D21">
              <a:alpha val="30196"/>
            </a:srgbClr>
          </a:solidFill>
          <a:ln w="1016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0560" y="33528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961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37260" y="365760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or no suspicious indicators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961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37260" y="39624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behavioral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9610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37260" y="426720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structural anomalies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4370" y="4613910"/>
            <a:ext cx="3122295" cy="655320"/>
          </a:xfrm>
          <a:custGeom>
            <a:avLst/>
            <a:gdLst/>
            <a:ahLst/>
            <a:cxnLst/>
            <a:rect l="l" t="t" r="r" b="b"/>
            <a:pathLst>
              <a:path w="3122295" h="655320">
                <a:moveTo>
                  <a:pt x="76201" y="0"/>
                </a:moveTo>
                <a:lnTo>
                  <a:pt x="3046094" y="0"/>
                </a:lnTo>
                <a:cubicBezTo>
                  <a:pt x="3088179" y="0"/>
                  <a:pt x="3122295" y="34116"/>
                  <a:pt x="3122295" y="76201"/>
                </a:cubicBezTo>
                <a:lnTo>
                  <a:pt x="3122295" y="579119"/>
                </a:lnTo>
                <a:cubicBezTo>
                  <a:pt x="3122295" y="621204"/>
                  <a:pt x="3088179" y="655320"/>
                  <a:pt x="304609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0160">
            <a:solidFill>
              <a:srgbClr val="00C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54380" y="46939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" y="49606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Safe for execution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9341" y="1303020"/>
            <a:ext cx="3691890" cy="4253865"/>
          </a:xfrm>
          <a:custGeom>
            <a:avLst/>
            <a:gdLst/>
            <a:ahLst/>
            <a:cxnLst/>
            <a:rect l="l" t="t" r="r" b="b"/>
            <a:pathLst>
              <a:path w="3691890" h="4253865">
                <a:moveTo>
                  <a:pt x="76201" y="0"/>
                </a:moveTo>
                <a:lnTo>
                  <a:pt x="3615689" y="0"/>
                </a:lnTo>
                <a:cubicBezTo>
                  <a:pt x="3657774" y="0"/>
                  <a:pt x="3691890" y="34116"/>
                  <a:pt x="3691890" y="76201"/>
                </a:cubicBezTo>
                <a:lnTo>
                  <a:pt x="3691890" y="4177664"/>
                </a:lnTo>
                <a:cubicBezTo>
                  <a:pt x="3691890" y="4219749"/>
                  <a:pt x="3657774" y="4253865"/>
                  <a:pt x="3615689" y="4253865"/>
                </a:cubicBezTo>
                <a:lnTo>
                  <a:pt x="76201" y="4253865"/>
                </a:lnTo>
                <a:cubicBezTo>
                  <a:pt x="34116" y="4253865"/>
                  <a:pt x="0" y="4219749"/>
                  <a:pt x="0" y="417766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>
                  <a:alpha val="20000"/>
                </a:srgbClr>
              </a:gs>
              <a:gs pos="100000">
                <a:srgbClr val="CA3500">
                  <a:alpha val="10000"/>
                </a:srgbClr>
              </a:gs>
            </a:gsLst>
            <a:lin ang="2700000" scaled="1"/>
          </a:gradFill>
          <a:ln w="20320">
            <a:solidFill>
              <a:srgbClr val="F0B1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409361" y="1463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61761" y="16154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57061" y="1463036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57061" y="176772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3171" y="2114546"/>
            <a:ext cx="3369945" cy="998220"/>
          </a:xfrm>
          <a:custGeom>
            <a:avLst/>
            <a:gdLst/>
            <a:ahLst/>
            <a:cxnLst/>
            <a:rect l="l" t="t" r="r" b="b"/>
            <a:pathLst>
              <a:path w="3369945" h="998220">
                <a:moveTo>
                  <a:pt x="76204" y="0"/>
                </a:moveTo>
                <a:lnTo>
                  <a:pt x="3293741" y="0"/>
                </a:lnTo>
                <a:cubicBezTo>
                  <a:pt x="3335827" y="0"/>
                  <a:pt x="3369945" y="34118"/>
                  <a:pt x="3369945" y="76204"/>
                </a:cubicBezTo>
                <a:lnTo>
                  <a:pt x="3369945" y="922016"/>
                </a:lnTo>
                <a:cubicBezTo>
                  <a:pt x="3369945" y="964102"/>
                  <a:pt x="3335827" y="998220"/>
                  <a:pt x="32937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F0B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416981" y="2232659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40-69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8418" y="2727959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3171" y="3234687"/>
            <a:ext cx="3369945" cy="2160270"/>
          </a:xfrm>
          <a:custGeom>
            <a:avLst/>
            <a:gdLst/>
            <a:ahLst/>
            <a:cxnLst/>
            <a:rect l="l" t="t" r="r" b="b"/>
            <a:pathLst>
              <a:path w="3369945" h="2160270">
                <a:moveTo>
                  <a:pt x="76193" y="0"/>
                </a:moveTo>
                <a:lnTo>
                  <a:pt x="3293752" y="0"/>
                </a:lnTo>
                <a:cubicBezTo>
                  <a:pt x="3335832" y="0"/>
                  <a:pt x="3369945" y="34113"/>
                  <a:pt x="3369945" y="76193"/>
                </a:cubicBezTo>
                <a:lnTo>
                  <a:pt x="3369945" y="2084077"/>
                </a:lnTo>
                <a:cubicBezTo>
                  <a:pt x="3369945" y="2126157"/>
                  <a:pt x="3335832" y="2160270"/>
                  <a:pt x="3293752" y="2160270"/>
                </a:cubicBezTo>
                <a:lnTo>
                  <a:pt x="76193" y="2160270"/>
                </a:lnTo>
                <a:cubicBezTo>
                  <a:pt x="34113" y="2160270"/>
                  <a:pt x="0" y="2126157"/>
                  <a:pt x="0" y="208407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1D21">
              <a:alpha val="30196"/>
            </a:srgbClr>
          </a:solidFill>
          <a:ln w="1016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531281" y="33528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40806" y="3695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797981" y="36576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low-medium indicators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40806" y="4000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797981" y="39624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behavioral concerns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40806" y="4305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97981" y="42672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structural anomalies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35091" y="4613910"/>
            <a:ext cx="3122295" cy="655320"/>
          </a:xfrm>
          <a:custGeom>
            <a:avLst/>
            <a:gdLst/>
            <a:ahLst/>
            <a:cxnLst/>
            <a:rect l="l" t="t" r="r" b="b"/>
            <a:pathLst>
              <a:path w="3122295" h="655320">
                <a:moveTo>
                  <a:pt x="76201" y="0"/>
                </a:moveTo>
                <a:lnTo>
                  <a:pt x="3046094" y="0"/>
                </a:lnTo>
                <a:cubicBezTo>
                  <a:pt x="3088179" y="0"/>
                  <a:pt x="3122295" y="34116"/>
                  <a:pt x="3122295" y="76201"/>
                </a:cubicBezTo>
                <a:lnTo>
                  <a:pt x="3122295" y="579119"/>
                </a:lnTo>
                <a:cubicBezTo>
                  <a:pt x="3122295" y="621204"/>
                  <a:pt x="3088179" y="655320"/>
                  <a:pt x="304609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10160">
            <a:solidFill>
              <a:srgbClr val="F0B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615101" y="46939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15101" y="49606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 Requires further review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10181" y="1303020"/>
            <a:ext cx="3691890" cy="4253865"/>
          </a:xfrm>
          <a:custGeom>
            <a:avLst/>
            <a:gdLst/>
            <a:ahLst/>
            <a:cxnLst/>
            <a:rect l="l" t="t" r="r" b="b"/>
            <a:pathLst>
              <a:path w="3691890" h="4253865">
                <a:moveTo>
                  <a:pt x="76201" y="0"/>
                </a:moveTo>
                <a:lnTo>
                  <a:pt x="3615689" y="0"/>
                </a:lnTo>
                <a:cubicBezTo>
                  <a:pt x="3657774" y="0"/>
                  <a:pt x="3691890" y="34116"/>
                  <a:pt x="3691890" y="76201"/>
                </a:cubicBezTo>
                <a:lnTo>
                  <a:pt x="3691890" y="4177664"/>
                </a:lnTo>
                <a:cubicBezTo>
                  <a:pt x="3691890" y="4219749"/>
                  <a:pt x="3657774" y="4253865"/>
                  <a:pt x="3615689" y="4253865"/>
                </a:cubicBezTo>
                <a:lnTo>
                  <a:pt x="76201" y="4253865"/>
                </a:lnTo>
                <a:cubicBezTo>
                  <a:pt x="34116" y="4253865"/>
                  <a:pt x="0" y="4219749"/>
                  <a:pt x="0" y="417766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C10007">
                  <a:alpha val="10000"/>
                </a:srgbClr>
              </a:gs>
            </a:gsLst>
            <a:lin ang="2700000" scaled="1"/>
          </a:gradFill>
          <a:ln w="2032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270200" y="1463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422600" y="16154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917900" y="1463036"/>
            <a:ext cx="1343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17900" y="176772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10" y="2114546"/>
            <a:ext cx="3369945" cy="998220"/>
          </a:xfrm>
          <a:custGeom>
            <a:avLst/>
            <a:gdLst/>
            <a:ahLst/>
            <a:cxnLst/>
            <a:rect l="l" t="t" r="r" b="b"/>
            <a:pathLst>
              <a:path w="3369945" h="998220">
                <a:moveTo>
                  <a:pt x="76204" y="0"/>
                </a:moveTo>
                <a:lnTo>
                  <a:pt x="3293741" y="0"/>
                </a:lnTo>
                <a:cubicBezTo>
                  <a:pt x="3335827" y="0"/>
                  <a:pt x="3369945" y="34118"/>
                  <a:pt x="3369945" y="76204"/>
                </a:cubicBezTo>
                <a:lnTo>
                  <a:pt x="3369945" y="922016"/>
                </a:lnTo>
                <a:cubicBezTo>
                  <a:pt x="3369945" y="964102"/>
                  <a:pt x="3335827" y="998220"/>
                  <a:pt x="32937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277820" y="2232659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70-100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49258" y="2727959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74010" y="3234687"/>
            <a:ext cx="3369945" cy="2160270"/>
          </a:xfrm>
          <a:custGeom>
            <a:avLst/>
            <a:gdLst/>
            <a:ahLst/>
            <a:cxnLst/>
            <a:rect l="l" t="t" r="r" b="b"/>
            <a:pathLst>
              <a:path w="3369945" h="2160270">
                <a:moveTo>
                  <a:pt x="76193" y="0"/>
                </a:moveTo>
                <a:lnTo>
                  <a:pt x="3293752" y="0"/>
                </a:lnTo>
                <a:cubicBezTo>
                  <a:pt x="3335832" y="0"/>
                  <a:pt x="3369945" y="34113"/>
                  <a:pt x="3369945" y="76193"/>
                </a:cubicBezTo>
                <a:lnTo>
                  <a:pt x="3369945" y="2084077"/>
                </a:lnTo>
                <a:cubicBezTo>
                  <a:pt x="3369945" y="2126157"/>
                  <a:pt x="3335832" y="2160270"/>
                  <a:pt x="3293752" y="2160270"/>
                </a:cubicBezTo>
                <a:lnTo>
                  <a:pt x="76193" y="2160270"/>
                </a:lnTo>
                <a:cubicBezTo>
                  <a:pt x="34113" y="2160270"/>
                  <a:pt x="0" y="2126157"/>
                  <a:pt x="0" y="208407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1D21">
              <a:alpha val="30196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392120" y="33528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1117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8658820" y="36576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High-severity indicators present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1117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8658820" y="39624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Definitive malicious behavior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11170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658820" y="42672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detection hits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95930" y="4613910"/>
            <a:ext cx="3122295" cy="655320"/>
          </a:xfrm>
          <a:custGeom>
            <a:avLst/>
            <a:gdLst/>
            <a:ahLst/>
            <a:cxnLst/>
            <a:rect l="l" t="t" r="r" b="b"/>
            <a:pathLst>
              <a:path w="3122295" h="655320">
                <a:moveTo>
                  <a:pt x="76201" y="0"/>
                </a:moveTo>
                <a:lnTo>
                  <a:pt x="3046094" y="0"/>
                </a:lnTo>
                <a:cubicBezTo>
                  <a:pt x="3088179" y="0"/>
                  <a:pt x="3122295" y="34116"/>
                  <a:pt x="3122295" y="76201"/>
                </a:cubicBezTo>
                <a:lnTo>
                  <a:pt x="3122295" y="579119"/>
                </a:lnTo>
                <a:cubicBezTo>
                  <a:pt x="3122295" y="621204"/>
                  <a:pt x="3088179" y="655320"/>
                  <a:pt x="304609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8475940" y="46939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75940" y="4960618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⛔ Block immediately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84810" y="5718810"/>
            <a:ext cx="11418570" cy="874395"/>
          </a:xfrm>
          <a:custGeom>
            <a:avLst/>
            <a:gdLst/>
            <a:ahLst/>
            <a:cxnLst/>
            <a:rect l="l" t="t" r="r" b="b"/>
            <a:pathLst>
              <a:path w="11418570" h="874395">
                <a:moveTo>
                  <a:pt x="76204" y="0"/>
                </a:moveTo>
                <a:lnTo>
                  <a:pt x="11342366" y="0"/>
                </a:lnTo>
                <a:cubicBezTo>
                  <a:pt x="11384453" y="0"/>
                  <a:pt x="11418570" y="34117"/>
                  <a:pt x="11418570" y="76204"/>
                </a:cubicBezTo>
                <a:lnTo>
                  <a:pt x="11418570" y="798191"/>
                </a:lnTo>
                <a:cubicBezTo>
                  <a:pt x="11418570" y="840278"/>
                  <a:pt x="11384453" y="874395"/>
                  <a:pt x="11342366" y="874395"/>
                </a:cubicBezTo>
                <a:lnTo>
                  <a:pt x="76204" y="874395"/>
                </a:lnTo>
                <a:cubicBezTo>
                  <a:pt x="34117" y="874395"/>
                  <a:pt x="0" y="840278"/>
                  <a:pt x="0" y="79819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30000"/>
                </a:srgbClr>
              </a:gs>
              <a:gs pos="100000">
                <a:srgbClr val="4A5462">
                  <a:alpha val="20000"/>
                </a:srgbClr>
              </a:gs>
            </a:gsLst>
            <a:lin ang="0" scaled="1"/>
          </a:gra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02920" y="59250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636270" y="60583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1112520" y="5836918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 Calibration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12520" y="6103618"/>
            <a:ext cx="3486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Tuned to minimize false positives while maintaining high sensitivity.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688800" y="5836918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Normalization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688800" y="6103618"/>
            <a:ext cx="3486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Aggregated score is capped at 100 for consistent interpretation.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65081" y="5836918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Communication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265081" y="6103618"/>
            <a:ext cx="3486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Color-coded system enables rapid decision-making.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468256"/>
            <a:ext cx="52028" cy="346856"/>
          </a:xfrm>
          <a:custGeom>
            <a:avLst/>
            <a:gdLst/>
            <a:ahLst/>
            <a:cxnLst/>
            <a:rect l="l" t="t" r="r" b="b"/>
            <a:pathLst>
              <a:path w="52028" h="346856">
                <a:moveTo>
                  <a:pt x="0" y="0"/>
                </a:moveTo>
                <a:lnTo>
                  <a:pt x="52028" y="0"/>
                </a:lnTo>
                <a:lnTo>
                  <a:pt x="52028" y="346856"/>
                </a:lnTo>
                <a:lnTo>
                  <a:pt x="0" y="346856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7627" y="346856"/>
            <a:ext cx="294827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kern="0" spc="55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7627" y="589656"/>
            <a:ext cx="3034993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Gauge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325" y="1182780"/>
            <a:ext cx="5105725" cy="3232701"/>
          </a:xfrm>
          <a:custGeom>
            <a:avLst/>
            <a:gdLst/>
            <a:ahLst/>
            <a:cxnLst/>
            <a:rect l="l" t="t" r="r" b="b"/>
            <a:pathLst>
              <a:path w="5105725" h="3232701">
                <a:moveTo>
                  <a:pt x="69374" y="0"/>
                </a:moveTo>
                <a:lnTo>
                  <a:pt x="5036351" y="0"/>
                </a:lnTo>
                <a:cubicBezTo>
                  <a:pt x="5074665" y="0"/>
                  <a:pt x="5105725" y="31060"/>
                  <a:pt x="5105725" y="69374"/>
                </a:cubicBezTo>
                <a:lnTo>
                  <a:pt x="5105725" y="3163327"/>
                </a:lnTo>
                <a:cubicBezTo>
                  <a:pt x="5105725" y="3201641"/>
                  <a:pt x="5074665" y="3232701"/>
                  <a:pt x="5036351" y="3232701"/>
                </a:cubicBezTo>
                <a:lnTo>
                  <a:pt x="69374" y="3232701"/>
                </a:lnTo>
                <a:cubicBezTo>
                  <a:pt x="31060" y="3232701"/>
                  <a:pt x="0" y="3201641"/>
                  <a:pt x="0" y="3163327"/>
                </a:cubicBezTo>
                <a:lnTo>
                  <a:pt x="0" y="69374"/>
                </a:lnTo>
                <a:cubicBezTo>
                  <a:pt x="0" y="31060"/>
                  <a:pt x="31060" y="0"/>
                  <a:pt x="69374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49179" y="1324989"/>
            <a:ext cx="490801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Level Gauge</a:t>
            </a:r>
            <a:endParaRPr lang="en-US" sz="1600" dirty="0"/>
          </a:p>
        </p:txBody>
      </p:sp>
      <p:pic>
        <p:nvPicPr>
          <p:cNvPr id="7" name="Image 0" descr="https://kimi-img.moonshot.cn/pub/slides/26-01-16-22:54:32-d5l52a2ebk48d5g95dd0.png"/>
          <p:cNvPicPr>
            <a:picLocks noChangeAspect="1"/>
          </p:cNvPicPr>
          <p:nvPr/>
        </p:nvPicPr>
        <p:blipFill>
          <a:blip r:embed="rId3"/>
          <a:srcRect t="60" b="60"/>
          <a:stretch/>
        </p:blipFill>
        <p:spPr>
          <a:xfrm>
            <a:off x="492536" y="1671846"/>
            <a:ext cx="4327033" cy="2601422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50325" y="4561157"/>
            <a:ext cx="5105725" cy="2296189"/>
          </a:xfrm>
          <a:custGeom>
            <a:avLst/>
            <a:gdLst/>
            <a:ahLst/>
            <a:cxnLst/>
            <a:rect l="l" t="t" r="r" b="b"/>
            <a:pathLst>
              <a:path w="5105725" h="2296189">
                <a:moveTo>
                  <a:pt x="69368" y="0"/>
                </a:moveTo>
                <a:lnTo>
                  <a:pt x="5036357" y="0"/>
                </a:lnTo>
                <a:cubicBezTo>
                  <a:pt x="5074668" y="0"/>
                  <a:pt x="5105725" y="31057"/>
                  <a:pt x="5105725" y="69368"/>
                </a:cubicBezTo>
                <a:lnTo>
                  <a:pt x="5105725" y="2226821"/>
                </a:lnTo>
                <a:cubicBezTo>
                  <a:pt x="5105725" y="2265132"/>
                  <a:pt x="5074668" y="2296189"/>
                  <a:pt x="5036357" y="2296189"/>
                </a:cubicBezTo>
                <a:lnTo>
                  <a:pt x="69368" y="2296189"/>
                </a:lnTo>
                <a:cubicBezTo>
                  <a:pt x="31057" y="2296189"/>
                  <a:pt x="0" y="2265132"/>
                  <a:pt x="0" y="2226821"/>
                </a:cubicBezTo>
                <a:lnTo>
                  <a:pt x="0" y="69368"/>
                </a:lnTo>
                <a:cubicBezTo>
                  <a:pt x="0" y="31083"/>
                  <a:pt x="31083" y="0"/>
                  <a:pt x="69368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92536" y="4703371"/>
            <a:ext cx="489934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Gauge Components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92536" y="5015542"/>
            <a:ext cx="4821303" cy="520284"/>
          </a:xfrm>
          <a:custGeom>
            <a:avLst/>
            <a:gdLst/>
            <a:ahLst/>
            <a:cxnLst/>
            <a:rect l="l" t="t" r="r" b="b"/>
            <a:pathLst>
              <a:path w="4821303" h="520284">
                <a:moveTo>
                  <a:pt x="69370" y="0"/>
                </a:moveTo>
                <a:lnTo>
                  <a:pt x="4751933" y="0"/>
                </a:lnTo>
                <a:cubicBezTo>
                  <a:pt x="4790245" y="0"/>
                  <a:pt x="4821303" y="31058"/>
                  <a:pt x="4821303" y="69370"/>
                </a:cubicBezTo>
                <a:lnTo>
                  <a:pt x="4821303" y="450915"/>
                </a:lnTo>
                <a:cubicBezTo>
                  <a:pt x="4821303" y="489227"/>
                  <a:pt x="4790245" y="520284"/>
                  <a:pt x="4751933" y="520284"/>
                </a:cubicBezTo>
                <a:lnTo>
                  <a:pt x="69370" y="520284"/>
                </a:lnTo>
                <a:cubicBezTo>
                  <a:pt x="31058" y="520284"/>
                  <a:pt x="0" y="489227"/>
                  <a:pt x="0" y="450915"/>
                </a:cubicBezTo>
                <a:lnTo>
                  <a:pt x="0" y="69370"/>
                </a:lnTo>
                <a:cubicBezTo>
                  <a:pt x="0" y="31058"/>
                  <a:pt x="31058" y="0"/>
                  <a:pt x="693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61907" y="5136941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34686" y="0"/>
                </a:moveTo>
                <a:lnTo>
                  <a:pt x="242799" y="0"/>
                </a:lnTo>
                <a:cubicBezTo>
                  <a:pt x="261956" y="0"/>
                  <a:pt x="277485" y="15529"/>
                  <a:pt x="277485" y="34686"/>
                </a:cubicBezTo>
                <a:lnTo>
                  <a:pt x="277485" y="242799"/>
                </a:lnTo>
                <a:cubicBezTo>
                  <a:pt x="277485" y="261956"/>
                  <a:pt x="261956" y="277485"/>
                  <a:pt x="242799" y="277485"/>
                </a:cubicBezTo>
                <a:lnTo>
                  <a:pt x="34686" y="277485"/>
                </a:lnTo>
                <a:cubicBezTo>
                  <a:pt x="15529" y="277485"/>
                  <a:pt x="0" y="261956"/>
                  <a:pt x="0" y="242799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27222" y="5136941"/>
            <a:ext cx="346856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3449" y="5084913"/>
            <a:ext cx="1586868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Range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3449" y="5293027"/>
            <a:ext cx="1578196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scale with color zones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2536" y="5605197"/>
            <a:ext cx="4821303" cy="520284"/>
          </a:xfrm>
          <a:custGeom>
            <a:avLst/>
            <a:gdLst/>
            <a:ahLst/>
            <a:cxnLst/>
            <a:rect l="l" t="t" r="r" b="b"/>
            <a:pathLst>
              <a:path w="4821303" h="520284">
                <a:moveTo>
                  <a:pt x="69370" y="0"/>
                </a:moveTo>
                <a:lnTo>
                  <a:pt x="4751933" y="0"/>
                </a:lnTo>
                <a:cubicBezTo>
                  <a:pt x="4790245" y="0"/>
                  <a:pt x="4821303" y="31058"/>
                  <a:pt x="4821303" y="69370"/>
                </a:cubicBezTo>
                <a:lnTo>
                  <a:pt x="4821303" y="450915"/>
                </a:lnTo>
                <a:cubicBezTo>
                  <a:pt x="4821303" y="489227"/>
                  <a:pt x="4790245" y="520284"/>
                  <a:pt x="4751933" y="520284"/>
                </a:cubicBezTo>
                <a:lnTo>
                  <a:pt x="69370" y="520284"/>
                </a:lnTo>
                <a:cubicBezTo>
                  <a:pt x="31058" y="520284"/>
                  <a:pt x="0" y="489227"/>
                  <a:pt x="0" y="450915"/>
                </a:cubicBezTo>
                <a:lnTo>
                  <a:pt x="0" y="69370"/>
                </a:lnTo>
                <a:cubicBezTo>
                  <a:pt x="0" y="31058"/>
                  <a:pt x="31058" y="0"/>
                  <a:pt x="693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61907" y="5726597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34686" y="0"/>
                </a:moveTo>
                <a:lnTo>
                  <a:pt x="242799" y="0"/>
                </a:lnTo>
                <a:cubicBezTo>
                  <a:pt x="261956" y="0"/>
                  <a:pt x="277485" y="15529"/>
                  <a:pt x="277485" y="34686"/>
                </a:cubicBezTo>
                <a:lnTo>
                  <a:pt x="277485" y="242799"/>
                </a:lnTo>
                <a:cubicBezTo>
                  <a:pt x="277485" y="261956"/>
                  <a:pt x="261956" y="277485"/>
                  <a:pt x="242799" y="277485"/>
                </a:cubicBezTo>
                <a:lnTo>
                  <a:pt x="34686" y="277485"/>
                </a:lnTo>
                <a:cubicBezTo>
                  <a:pt x="15529" y="277485"/>
                  <a:pt x="0" y="261956"/>
                  <a:pt x="0" y="242799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31279" y="5795968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0" y="69371"/>
                </a:moveTo>
                <a:cubicBezTo>
                  <a:pt x="0" y="31084"/>
                  <a:pt x="31084" y="0"/>
                  <a:pt x="69371" y="0"/>
                </a:cubicBezTo>
                <a:cubicBezTo>
                  <a:pt x="107658" y="0"/>
                  <a:pt x="138743" y="31084"/>
                  <a:pt x="138743" y="69371"/>
                </a:cubicBezTo>
                <a:cubicBezTo>
                  <a:pt x="138743" y="107658"/>
                  <a:pt x="107658" y="138743"/>
                  <a:pt x="69371" y="138743"/>
                </a:cubicBezTo>
                <a:cubicBezTo>
                  <a:pt x="31084" y="138743"/>
                  <a:pt x="0" y="107658"/>
                  <a:pt x="0" y="69371"/>
                </a:cubicBezTo>
                <a:close/>
                <a:moveTo>
                  <a:pt x="78043" y="26014"/>
                </a:moveTo>
                <a:cubicBezTo>
                  <a:pt x="78043" y="21228"/>
                  <a:pt x="74157" y="17343"/>
                  <a:pt x="69371" y="17343"/>
                </a:cubicBezTo>
                <a:cubicBezTo>
                  <a:pt x="64585" y="17343"/>
                  <a:pt x="60700" y="21228"/>
                  <a:pt x="60700" y="26014"/>
                </a:cubicBezTo>
                <a:cubicBezTo>
                  <a:pt x="60700" y="30800"/>
                  <a:pt x="64585" y="34686"/>
                  <a:pt x="69371" y="34686"/>
                </a:cubicBezTo>
                <a:cubicBezTo>
                  <a:pt x="74157" y="34686"/>
                  <a:pt x="78043" y="30800"/>
                  <a:pt x="78043" y="26014"/>
                </a:cubicBezTo>
                <a:close/>
                <a:moveTo>
                  <a:pt x="69371" y="112728"/>
                </a:moveTo>
                <a:cubicBezTo>
                  <a:pt x="78937" y="112728"/>
                  <a:pt x="86714" y="104951"/>
                  <a:pt x="86714" y="95385"/>
                </a:cubicBezTo>
                <a:cubicBezTo>
                  <a:pt x="86714" y="90996"/>
                  <a:pt x="85088" y="86958"/>
                  <a:pt x="82378" y="83923"/>
                </a:cubicBezTo>
                <a:lnTo>
                  <a:pt x="101212" y="46284"/>
                </a:lnTo>
                <a:cubicBezTo>
                  <a:pt x="102810" y="43059"/>
                  <a:pt x="101510" y="39157"/>
                  <a:pt x="98312" y="37558"/>
                </a:cubicBezTo>
                <a:cubicBezTo>
                  <a:pt x="95115" y="35959"/>
                  <a:pt x="91185" y="37260"/>
                  <a:pt x="89586" y="40458"/>
                </a:cubicBezTo>
                <a:lnTo>
                  <a:pt x="70753" y="78097"/>
                </a:lnTo>
                <a:cubicBezTo>
                  <a:pt x="70293" y="78070"/>
                  <a:pt x="69832" y="78043"/>
                  <a:pt x="69371" y="78043"/>
                </a:cubicBezTo>
                <a:cubicBezTo>
                  <a:pt x="59806" y="78043"/>
                  <a:pt x="52028" y="85820"/>
                  <a:pt x="52028" y="95385"/>
                </a:cubicBezTo>
                <a:cubicBezTo>
                  <a:pt x="52028" y="104951"/>
                  <a:pt x="59806" y="112728"/>
                  <a:pt x="69371" y="112728"/>
                </a:cubicBezTo>
                <a:close/>
                <a:moveTo>
                  <a:pt x="47693" y="39021"/>
                </a:moveTo>
                <a:cubicBezTo>
                  <a:pt x="47693" y="34235"/>
                  <a:pt x="43807" y="30350"/>
                  <a:pt x="39021" y="30350"/>
                </a:cubicBezTo>
                <a:cubicBezTo>
                  <a:pt x="34235" y="30350"/>
                  <a:pt x="30350" y="34235"/>
                  <a:pt x="30350" y="39021"/>
                </a:cubicBezTo>
                <a:cubicBezTo>
                  <a:pt x="30350" y="43807"/>
                  <a:pt x="34235" y="47693"/>
                  <a:pt x="39021" y="47693"/>
                </a:cubicBezTo>
                <a:cubicBezTo>
                  <a:pt x="43807" y="47693"/>
                  <a:pt x="47693" y="43807"/>
                  <a:pt x="47693" y="39021"/>
                </a:cubicBezTo>
                <a:close/>
                <a:moveTo>
                  <a:pt x="26014" y="78043"/>
                </a:moveTo>
                <a:cubicBezTo>
                  <a:pt x="30800" y="78043"/>
                  <a:pt x="34686" y="74157"/>
                  <a:pt x="34686" y="69371"/>
                </a:cubicBezTo>
                <a:cubicBezTo>
                  <a:pt x="34686" y="64585"/>
                  <a:pt x="30800" y="60700"/>
                  <a:pt x="26014" y="60700"/>
                </a:cubicBezTo>
                <a:cubicBezTo>
                  <a:pt x="21228" y="60700"/>
                  <a:pt x="17343" y="64585"/>
                  <a:pt x="17343" y="69371"/>
                </a:cubicBezTo>
                <a:cubicBezTo>
                  <a:pt x="17343" y="74157"/>
                  <a:pt x="21228" y="78043"/>
                  <a:pt x="26014" y="78043"/>
                </a:cubicBezTo>
                <a:close/>
                <a:moveTo>
                  <a:pt x="121400" y="69371"/>
                </a:moveTo>
                <a:cubicBezTo>
                  <a:pt x="121400" y="64585"/>
                  <a:pt x="117514" y="60700"/>
                  <a:pt x="112728" y="60700"/>
                </a:cubicBezTo>
                <a:cubicBezTo>
                  <a:pt x="107942" y="60700"/>
                  <a:pt x="104057" y="64585"/>
                  <a:pt x="104057" y="69371"/>
                </a:cubicBezTo>
                <a:cubicBezTo>
                  <a:pt x="104057" y="74157"/>
                  <a:pt x="107942" y="78043"/>
                  <a:pt x="112728" y="78043"/>
                </a:cubicBezTo>
                <a:cubicBezTo>
                  <a:pt x="117514" y="78043"/>
                  <a:pt x="121400" y="74157"/>
                  <a:pt x="121400" y="6937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943449" y="5674569"/>
            <a:ext cx="126602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Needle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3449" y="5882683"/>
            <a:ext cx="125735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Indicates current score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92536" y="6194853"/>
            <a:ext cx="4821303" cy="520284"/>
          </a:xfrm>
          <a:custGeom>
            <a:avLst/>
            <a:gdLst/>
            <a:ahLst/>
            <a:cxnLst/>
            <a:rect l="l" t="t" r="r" b="b"/>
            <a:pathLst>
              <a:path w="4821303" h="520284">
                <a:moveTo>
                  <a:pt x="69370" y="0"/>
                </a:moveTo>
                <a:lnTo>
                  <a:pt x="4751933" y="0"/>
                </a:lnTo>
                <a:cubicBezTo>
                  <a:pt x="4790245" y="0"/>
                  <a:pt x="4821303" y="31058"/>
                  <a:pt x="4821303" y="69370"/>
                </a:cubicBezTo>
                <a:lnTo>
                  <a:pt x="4821303" y="450915"/>
                </a:lnTo>
                <a:cubicBezTo>
                  <a:pt x="4821303" y="489227"/>
                  <a:pt x="4790245" y="520284"/>
                  <a:pt x="4751933" y="520284"/>
                </a:cubicBezTo>
                <a:lnTo>
                  <a:pt x="69370" y="520284"/>
                </a:lnTo>
                <a:cubicBezTo>
                  <a:pt x="31058" y="520284"/>
                  <a:pt x="0" y="489227"/>
                  <a:pt x="0" y="450915"/>
                </a:cubicBezTo>
                <a:lnTo>
                  <a:pt x="0" y="69370"/>
                </a:lnTo>
                <a:cubicBezTo>
                  <a:pt x="0" y="31058"/>
                  <a:pt x="31058" y="0"/>
                  <a:pt x="693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61907" y="6316253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34686" y="0"/>
                </a:moveTo>
                <a:lnTo>
                  <a:pt x="242799" y="0"/>
                </a:lnTo>
                <a:cubicBezTo>
                  <a:pt x="261956" y="0"/>
                  <a:pt x="277485" y="15529"/>
                  <a:pt x="277485" y="34686"/>
                </a:cubicBezTo>
                <a:lnTo>
                  <a:pt x="277485" y="242799"/>
                </a:lnTo>
                <a:cubicBezTo>
                  <a:pt x="277485" y="261956"/>
                  <a:pt x="261956" y="277485"/>
                  <a:pt x="242799" y="277485"/>
                </a:cubicBezTo>
                <a:lnTo>
                  <a:pt x="34686" y="277485"/>
                </a:lnTo>
                <a:cubicBezTo>
                  <a:pt x="15529" y="277485"/>
                  <a:pt x="0" y="261956"/>
                  <a:pt x="0" y="242799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31279" y="6385624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138743" y="69371"/>
                </a:moveTo>
                <a:cubicBezTo>
                  <a:pt x="138743" y="69615"/>
                  <a:pt x="138743" y="69859"/>
                  <a:pt x="138743" y="70103"/>
                </a:cubicBezTo>
                <a:cubicBezTo>
                  <a:pt x="138634" y="79994"/>
                  <a:pt x="129638" y="86714"/>
                  <a:pt x="119747" y="86714"/>
                </a:cubicBezTo>
                <a:lnTo>
                  <a:pt x="93218" y="86714"/>
                </a:lnTo>
                <a:cubicBezTo>
                  <a:pt x="86037" y="86714"/>
                  <a:pt x="80211" y="92540"/>
                  <a:pt x="80211" y="99721"/>
                </a:cubicBezTo>
                <a:cubicBezTo>
                  <a:pt x="80211" y="100643"/>
                  <a:pt x="80319" y="101537"/>
                  <a:pt x="80482" y="102404"/>
                </a:cubicBezTo>
                <a:cubicBezTo>
                  <a:pt x="81051" y="105168"/>
                  <a:pt x="82243" y="107824"/>
                  <a:pt x="83408" y="110506"/>
                </a:cubicBezTo>
                <a:cubicBezTo>
                  <a:pt x="85061" y="114246"/>
                  <a:pt x="86687" y="117958"/>
                  <a:pt x="86687" y="121887"/>
                </a:cubicBezTo>
                <a:cubicBezTo>
                  <a:pt x="86687" y="130505"/>
                  <a:pt x="80834" y="138336"/>
                  <a:pt x="72217" y="138688"/>
                </a:cubicBezTo>
                <a:cubicBezTo>
                  <a:pt x="71268" y="138715"/>
                  <a:pt x="70320" y="138743"/>
                  <a:pt x="69344" y="138743"/>
                </a:cubicBezTo>
                <a:cubicBezTo>
                  <a:pt x="31027" y="138743"/>
                  <a:pt x="-27" y="107688"/>
                  <a:pt x="-27" y="69371"/>
                </a:cubicBezTo>
                <a:cubicBezTo>
                  <a:pt x="-27" y="31054"/>
                  <a:pt x="31054" y="0"/>
                  <a:pt x="69371" y="0"/>
                </a:cubicBezTo>
                <a:cubicBezTo>
                  <a:pt x="107688" y="0"/>
                  <a:pt x="138743" y="31054"/>
                  <a:pt x="138743" y="69371"/>
                </a:cubicBezTo>
                <a:close/>
                <a:moveTo>
                  <a:pt x="34686" y="78043"/>
                </a:moveTo>
                <a:cubicBezTo>
                  <a:pt x="34686" y="73257"/>
                  <a:pt x="30800" y="69371"/>
                  <a:pt x="26014" y="69371"/>
                </a:cubicBezTo>
                <a:cubicBezTo>
                  <a:pt x="21228" y="69371"/>
                  <a:pt x="17343" y="73257"/>
                  <a:pt x="17343" y="78043"/>
                </a:cubicBezTo>
                <a:cubicBezTo>
                  <a:pt x="17343" y="82829"/>
                  <a:pt x="21228" y="86714"/>
                  <a:pt x="26014" y="86714"/>
                </a:cubicBezTo>
                <a:cubicBezTo>
                  <a:pt x="30800" y="86714"/>
                  <a:pt x="34686" y="82829"/>
                  <a:pt x="34686" y="78043"/>
                </a:cubicBezTo>
                <a:close/>
                <a:moveTo>
                  <a:pt x="34686" y="52028"/>
                </a:moveTo>
                <a:cubicBezTo>
                  <a:pt x="39472" y="52028"/>
                  <a:pt x="43357" y="48143"/>
                  <a:pt x="43357" y="43357"/>
                </a:cubicBezTo>
                <a:cubicBezTo>
                  <a:pt x="43357" y="38571"/>
                  <a:pt x="39472" y="34686"/>
                  <a:pt x="34686" y="34686"/>
                </a:cubicBezTo>
                <a:cubicBezTo>
                  <a:pt x="29900" y="34686"/>
                  <a:pt x="26014" y="38571"/>
                  <a:pt x="26014" y="43357"/>
                </a:cubicBezTo>
                <a:cubicBezTo>
                  <a:pt x="26014" y="48143"/>
                  <a:pt x="29900" y="52028"/>
                  <a:pt x="34686" y="52028"/>
                </a:cubicBezTo>
                <a:close/>
                <a:moveTo>
                  <a:pt x="78043" y="26014"/>
                </a:moveTo>
                <a:cubicBezTo>
                  <a:pt x="78043" y="21228"/>
                  <a:pt x="74157" y="17343"/>
                  <a:pt x="69371" y="17343"/>
                </a:cubicBezTo>
                <a:cubicBezTo>
                  <a:pt x="64585" y="17343"/>
                  <a:pt x="60700" y="21228"/>
                  <a:pt x="60700" y="26014"/>
                </a:cubicBezTo>
                <a:cubicBezTo>
                  <a:pt x="60700" y="30800"/>
                  <a:pt x="64585" y="34686"/>
                  <a:pt x="69371" y="34686"/>
                </a:cubicBezTo>
                <a:cubicBezTo>
                  <a:pt x="74157" y="34686"/>
                  <a:pt x="78043" y="30800"/>
                  <a:pt x="78043" y="26014"/>
                </a:cubicBezTo>
                <a:close/>
                <a:moveTo>
                  <a:pt x="104057" y="52028"/>
                </a:moveTo>
                <a:cubicBezTo>
                  <a:pt x="108843" y="52028"/>
                  <a:pt x="112728" y="48143"/>
                  <a:pt x="112728" y="43357"/>
                </a:cubicBezTo>
                <a:cubicBezTo>
                  <a:pt x="112728" y="38571"/>
                  <a:pt x="108843" y="34686"/>
                  <a:pt x="104057" y="34686"/>
                </a:cubicBezTo>
                <a:cubicBezTo>
                  <a:pt x="99271" y="34686"/>
                  <a:pt x="95385" y="38571"/>
                  <a:pt x="95385" y="43357"/>
                </a:cubicBezTo>
                <a:cubicBezTo>
                  <a:pt x="95385" y="48143"/>
                  <a:pt x="99271" y="52028"/>
                  <a:pt x="104057" y="5202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943449" y="6264224"/>
            <a:ext cx="117931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Coding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3449" y="6472338"/>
            <a:ext cx="117064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light paradigm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601730" y="1182780"/>
            <a:ext cx="6241680" cy="4359984"/>
          </a:xfrm>
          <a:custGeom>
            <a:avLst/>
            <a:gdLst/>
            <a:ahLst/>
            <a:cxnLst/>
            <a:rect l="l" t="t" r="r" b="b"/>
            <a:pathLst>
              <a:path w="6241680" h="4359984">
                <a:moveTo>
                  <a:pt x="69367" y="0"/>
                </a:moveTo>
                <a:lnTo>
                  <a:pt x="6172312" y="0"/>
                </a:lnTo>
                <a:cubicBezTo>
                  <a:pt x="6210623" y="0"/>
                  <a:pt x="6241680" y="31057"/>
                  <a:pt x="6241680" y="69367"/>
                </a:cubicBezTo>
                <a:lnTo>
                  <a:pt x="6241680" y="4290617"/>
                </a:lnTo>
                <a:cubicBezTo>
                  <a:pt x="6241680" y="4328927"/>
                  <a:pt x="6210623" y="4359984"/>
                  <a:pt x="6172312" y="4359984"/>
                </a:cubicBezTo>
                <a:lnTo>
                  <a:pt x="69367" y="4359984"/>
                </a:lnTo>
                <a:cubicBezTo>
                  <a:pt x="31057" y="4359984"/>
                  <a:pt x="0" y="4328927"/>
                  <a:pt x="0" y="4290617"/>
                </a:cubicBezTo>
                <a:lnTo>
                  <a:pt x="0" y="69367"/>
                </a:lnTo>
                <a:cubicBezTo>
                  <a:pt x="0" y="31082"/>
                  <a:pt x="31082" y="0"/>
                  <a:pt x="69367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743941" y="1324989"/>
            <a:ext cx="6043972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Principles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761284" y="1671846"/>
            <a:ext cx="5939915" cy="745741"/>
          </a:xfrm>
          <a:custGeom>
            <a:avLst/>
            <a:gdLst/>
            <a:ahLst/>
            <a:cxnLst/>
            <a:rect l="l" t="t" r="r" b="b"/>
            <a:pathLst>
              <a:path w="5939915" h="745741">
                <a:moveTo>
                  <a:pt x="0" y="0"/>
                </a:moveTo>
                <a:lnTo>
                  <a:pt x="5870546" y="0"/>
                </a:lnTo>
                <a:cubicBezTo>
                  <a:pt x="5908857" y="0"/>
                  <a:pt x="5939915" y="31057"/>
                  <a:pt x="5939915" y="69369"/>
                </a:cubicBezTo>
                <a:lnTo>
                  <a:pt x="5939915" y="676372"/>
                </a:lnTo>
                <a:cubicBezTo>
                  <a:pt x="5939915" y="714684"/>
                  <a:pt x="5908857" y="745741"/>
                  <a:pt x="5870546" y="745741"/>
                </a:cubicBez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C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5761284" y="1671846"/>
            <a:ext cx="34686" cy="745741"/>
          </a:xfrm>
          <a:custGeom>
            <a:avLst/>
            <a:gdLst/>
            <a:ahLst/>
            <a:cxnLst/>
            <a:rect l="l" t="t" r="r" b="b"/>
            <a:pathLst>
              <a:path w="34686" h="745741">
                <a:moveTo>
                  <a:pt x="0" y="0"/>
                </a:moveTo>
                <a:lnTo>
                  <a:pt x="34686" y="0"/>
                </a:lnTo>
                <a:lnTo>
                  <a:pt x="34686" y="745741"/>
                </a:ln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5882684" y="1775903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138743" y="0"/>
                </a:moveTo>
                <a:lnTo>
                  <a:pt x="138743" y="0"/>
                </a:lnTo>
                <a:cubicBezTo>
                  <a:pt x="215317" y="0"/>
                  <a:pt x="277485" y="62168"/>
                  <a:pt x="277485" y="138743"/>
                </a:cubicBezTo>
                <a:lnTo>
                  <a:pt x="277485" y="138743"/>
                </a:lnTo>
                <a:cubicBezTo>
                  <a:pt x="277485" y="215317"/>
                  <a:pt x="215317" y="277485"/>
                  <a:pt x="138743" y="277485"/>
                </a:cubicBezTo>
                <a:lnTo>
                  <a:pt x="138743" y="277485"/>
                </a:lnTo>
                <a:cubicBezTo>
                  <a:pt x="62168" y="277485"/>
                  <a:pt x="0" y="215317"/>
                  <a:pt x="0" y="138743"/>
                </a:cubicBezTo>
                <a:lnTo>
                  <a:pt x="0" y="138743"/>
                </a:lnTo>
                <a:cubicBezTo>
                  <a:pt x="0" y="62168"/>
                  <a:pt x="62168" y="0"/>
                  <a:pt x="138743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5847998" y="1775903"/>
            <a:ext cx="346856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64226" y="1793246"/>
            <a:ext cx="1344068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Zone (0-39)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882684" y="2122759"/>
            <a:ext cx="5783829" cy="19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Instills confidence. Clear visual cue for safe files, reducing analyst workload.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761284" y="2521644"/>
            <a:ext cx="5939915" cy="745741"/>
          </a:xfrm>
          <a:custGeom>
            <a:avLst/>
            <a:gdLst/>
            <a:ahLst/>
            <a:cxnLst/>
            <a:rect l="l" t="t" r="r" b="b"/>
            <a:pathLst>
              <a:path w="5939915" h="745741">
                <a:moveTo>
                  <a:pt x="0" y="0"/>
                </a:moveTo>
                <a:lnTo>
                  <a:pt x="5870546" y="0"/>
                </a:lnTo>
                <a:cubicBezTo>
                  <a:pt x="5908857" y="0"/>
                  <a:pt x="5939915" y="31057"/>
                  <a:pt x="5939915" y="69369"/>
                </a:cubicBezTo>
                <a:lnTo>
                  <a:pt x="5939915" y="676372"/>
                </a:lnTo>
                <a:cubicBezTo>
                  <a:pt x="5939915" y="714684"/>
                  <a:pt x="5908857" y="745741"/>
                  <a:pt x="5870546" y="745741"/>
                </a:cubicBez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0B1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5761284" y="2521644"/>
            <a:ext cx="34686" cy="745741"/>
          </a:xfrm>
          <a:custGeom>
            <a:avLst/>
            <a:gdLst/>
            <a:ahLst/>
            <a:cxnLst/>
            <a:rect l="l" t="t" r="r" b="b"/>
            <a:pathLst>
              <a:path w="34686" h="745741">
                <a:moveTo>
                  <a:pt x="0" y="0"/>
                </a:moveTo>
                <a:lnTo>
                  <a:pt x="34686" y="0"/>
                </a:lnTo>
                <a:lnTo>
                  <a:pt x="34686" y="745741"/>
                </a:ln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5882684" y="2625701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138743" y="0"/>
                </a:moveTo>
                <a:lnTo>
                  <a:pt x="138743" y="0"/>
                </a:lnTo>
                <a:cubicBezTo>
                  <a:pt x="215317" y="0"/>
                  <a:pt x="277485" y="62168"/>
                  <a:pt x="277485" y="138743"/>
                </a:cubicBezTo>
                <a:lnTo>
                  <a:pt x="277485" y="138743"/>
                </a:lnTo>
                <a:cubicBezTo>
                  <a:pt x="277485" y="215317"/>
                  <a:pt x="215317" y="277485"/>
                  <a:pt x="138743" y="277485"/>
                </a:cubicBezTo>
                <a:lnTo>
                  <a:pt x="138743" y="277485"/>
                </a:lnTo>
                <a:cubicBezTo>
                  <a:pt x="62168" y="277485"/>
                  <a:pt x="0" y="215317"/>
                  <a:pt x="0" y="138743"/>
                </a:cubicBezTo>
                <a:lnTo>
                  <a:pt x="0" y="138743"/>
                </a:lnTo>
                <a:cubicBezTo>
                  <a:pt x="0" y="62168"/>
                  <a:pt x="62168" y="0"/>
                  <a:pt x="138743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847998" y="2625701"/>
            <a:ext cx="346856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264226" y="2643044"/>
            <a:ext cx="1482811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 Zone (40-69)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882684" y="2972557"/>
            <a:ext cx="5783829" cy="19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Demands attention. Signals uncertainty and need for deeper investigation.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761284" y="3371442"/>
            <a:ext cx="5939915" cy="745741"/>
          </a:xfrm>
          <a:custGeom>
            <a:avLst/>
            <a:gdLst/>
            <a:ahLst/>
            <a:cxnLst/>
            <a:rect l="l" t="t" r="r" b="b"/>
            <a:pathLst>
              <a:path w="5939915" h="745741">
                <a:moveTo>
                  <a:pt x="0" y="0"/>
                </a:moveTo>
                <a:lnTo>
                  <a:pt x="5870546" y="0"/>
                </a:lnTo>
                <a:cubicBezTo>
                  <a:pt x="5908857" y="0"/>
                  <a:pt x="5939915" y="31057"/>
                  <a:pt x="5939915" y="69369"/>
                </a:cubicBezTo>
                <a:lnTo>
                  <a:pt x="5939915" y="676372"/>
                </a:lnTo>
                <a:cubicBezTo>
                  <a:pt x="5939915" y="714684"/>
                  <a:pt x="5908857" y="745741"/>
                  <a:pt x="5870546" y="745741"/>
                </a:cubicBez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5761284" y="3371442"/>
            <a:ext cx="34686" cy="745741"/>
          </a:xfrm>
          <a:custGeom>
            <a:avLst/>
            <a:gdLst/>
            <a:ahLst/>
            <a:cxnLst/>
            <a:rect l="l" t="t" r="r" b="b"/>
            <a:pathLst>
              <a:path w="34686" h="745741">
                <a:moveTo>
                  <a:pt x="0" y="0"/>
                </a:moveTo>
                <a:lnTo>
                  <a:pt x="34686" y="0"/>
                </a:lnTo>
                <a:lnTo>
                  <a:pt x="34686" y="745741"/>
                </a:lnTo>
                <a:lnTo>
                  <a:pt x="0" y="745741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5882684" y="3475499"/>
            <a:ext cx="277485" cy="277485"/>
          </a:xfrm>
          <a:custGeom>
            <a:avLst/>
            <a:gdLst/>
            <a:ahLst/>
            <a:cxnLst/>
            <a:rect l="l" t="t" r="r" b="b"/>
            <a:pathLst>
              <a:path w="277485" h="277485">
                <a:moveTo>
                  <a:pt x="138743" y="0"/>
                </a:moveTo>
                <a:lnTo>
                  <a:pt x="138743" y="0"/>
                </a:lnTo>
                <a:cubicBezTo>
                  <a:pt x="215317" y="0"/>
                  <a:pt x="277485" y="62168"/>
                  <a:pt x="277485" y="138743"/>
                </a:cubicBezTo>
                <a:lnTo>
                  <a:pt x="277485" y="138743"/>
                </a:lnTo>
                <a:cubicBezTo>
                  <a:pt x="277485" y="215317"/>
                  <a:pt x="215317" y="277485"/>
                  <a:pt x="138743" y="277485"/>
                </a:cubicBezTo>
                <a:lnTo>
                  <a:pt x="138743" y="277485"/>
                </a:lnTo>
                <a:cubicBezTo>
                  <a:pt x="62168" y="277485"/>
                  <a:pt x="0" y="215317"/>
                  <a:pt x="0" y="138743"/>
                </a:cubicBezTo>
                <a:lnTo>
                  <a:pt x="0" y="138743"/>
                </a:lnTo>
                <a:cubicBezTo>
                  <a:pt x="0" y="62168"/>
                  <a:pt x="62168" y="0"/>
                  <a:pt x="138743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5847998" y="3475499"/>
            <a:ext cx="346856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264226" y="3492842"/>
            <a:ext cx="135274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Zone (70-100)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882684" y="3822355"/>
            <a:ext cx="5783829" cy="19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Triggers urgency. Immediate action required to prevent potential damage.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601730" y="5686709"/>
            <a:ext cx="6241680" cy="1498419"/>
          </a:xfrm>
          <a:custGeom>
            <a:avLst/>
            <a:gdLst/>
            <a:ahLst/>
            <a:cxnLst/>
            <a:rect l="l" t="t" r="r" b="b"/>
            <a:pathLst>
              <a:path w="6241680" h="1498419">
                <a:moveTo>
                  <a:pt x="69377" y="0"/>
                </a:moveTo>
                <a:lnTo>
                  <a:pt x="6172303" y="0"/>
                </a:lnTo>
                <a:cubicBezTo>
                  <a:pt x="6210619" y="0"/>
                  <a:pt x="6241680" y="31061"/>
                  <a:pt x="6241680" y="69377"/>
                </a:cubicBezTo>
                <a:lnTo>
                  <a:pt x="6241680" y="1429043"/>
                </a:lnTo>
                <a:cubicBezTo>
                  <a:pt x="6241680" y="1467358"/>
                  <a:pt x="6210619" y="1498419"/>
                  <a:pt x="6172303" y="1498419"/>
                </a:cubicBezTo>
                <a:lnTo>
                  <a:pt x="69377" y="1498419"/>
                </a:lnTo>
                <a:cubicBezTo>
                  <a:pt x="31061" y="1498419"/>
                  <a:pt x="0" y="1467358"/>
                  <a:pt x="0" y="1429043"/>
                </a:cubicBezTo>
                <a:lnTo>
                  <a:pt x="0" y="69377"/>
                </a:lnTo>
                <a:cubicBezTo>
                  <a:pt x="0" y="31061"/>
                  <a:pt x="31061" y="0"/>
                  <a:pt x="69377" y="0"/>
                </a:cubicBez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30000"/>
                </a:srgbClr>
              </a:gs>
              <a:gs pos="100000">
                <a:srgbClr val="4A5462">
                  <a:alpha val="20000"/>
                </a:srgbClr>
              </a:gs>
            </a:gsLst>
            <a:lin ang="2700000" scaled="1"/>
          </a:gra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5704920" y="5828918"/>
            <a:ext cx="603530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Benefits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743941" y="6175774"/>
            <a:ext cx="1916381" cy="867141"/>
          </a:xfrm>
          <a:custGeom>
            <a:avLst/>
            <a:gdLst/>
            <a:ahLst/>
            <a:cxnLst/>
            <a:rect l="l" t="t" r="r" b="b"/>
            <a:pathLst>
              <a:path w="1916381" h="867141">
                <a:moveTo>
                  <a:pt x="69371" y="0"/>
                </a:moveTo>
                <a:lnTo>
                  <a:pt x="1847010" y="0"/>
                </a:lnTo>
                <a:cubicBezTo>
                  <a:pt x="1885323" y="0"/>
                  <a:pt x="1916381" y="31059"/>
                  <a:pt x="1916381" y="69371"/>
                </a:cubicBezTo>
                <a:lnTo>
                  <a:pt x="1916381" y="797770"/>
                </a:lnTo>
                <a:cubicBezTo>
                  <a:pt x="1916381" y="836082"/>
                  <a:pt x="1885323" y="867141"/>
                  <a:pt x="1847010" y="867141"/>
                </a:cubicBezTo>
                <a:lnTo>
                  <a:pt x="69371" y="867141"/>
                </a:lnTo>
                <a:cubicBezTo>
                  <a:pt x="31059" y="867141"/>
                  <a:pt x="0" y="836082"/>
                  <a:pt x="0" y="797770"/>
                </a:cubicBezTo>
                <a:lnTo>
                  <a:pt x="0" y="69371"/>
                </a:lnTo>
                <a:cubicBezTo>
                  <a:pt x="0" y="31059"/>
                  <a:pt x="31059" y="0"/>
                  <a:pt x="69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6611082" y="6279831"/>
            <a:ext cx="182100" cy="208114"/>
          </a:xfrm>
          <a:custGeom>
            <a:avLst/>
            <a:gdLst/>
            <a:ahLst/>
            <a:cxnLst/>
            <a:rect l="l" t="t" r="r" b="b"/>
            <a:pathLst>
              <a:path w="182100" h="208114">
                <a:moveTo>
                  <a:pt x="137713" y="-4024"/>
                </a:moveTo>
                <a:cubicBezTo>
                  <a:pt x="142550" y="-528"/>
                  <a:pt x="144338" y="5813"/>
                  <a:pt x="142143" y="11341"/>
                </a:cubicBezTo>
                <a:lnTo>
                  <a:pt x="110276" y="91050"/>
                </a:lnTo>
                <a:lnTo>
                  <a:pt x="169092" y="91050"/>
                </a:lnTo>
                <a:cubicBezTo>
                  <a:pt x="174580" y="91050"/>
                  <a:pt x="179458" y="94464"/>
                  <a:pt x="181327" y="99626"/>
                </a:cubicBezTo>
                <a:cubicBezTo>
                  <a:pt x="183197" y="104789"/>
                  <a:pt x="181612" y="110560"/>
                  <a:pt x="177425" y="114056"/>
                </a:cubicBezTo>
                <a:lnTo>
                  <a:pt x="60361" y="211609"/>
                </a:lnTo>
                <a:cubicBezTo>
                  <a:pt x="55768" y="215430"/>
                  <a:pt x="49224" y="215634"/>
                  <a:pt x="44387" y="212138"/>
                </a:cubicBezTo>
                <a:cubicBezTo>
                  <a:pt x="39550" y="208642"/>
                  <a:pt x="37761" y="202301"/>
                  <a:pt x="39956" y="196773"/>
                </a:cubicBezTo>
                <a:lnTo>
                  <a:pt x="71824" y="117064"/>
                </a:lnTo>
                <a:lnTo>
                  <a:pt x="13007" y="117064"/>
                </a:lnTo>
                <a:cubicBezTo>
                  <a:pt x="7520" y="117064"/>
                  <a:pt x="2642" y="113650"/>
                  <a:pt x="772" y="108487"/>
                </a:cubicBezTo>
                <a:cubicBezTo>
                  <a:pt x="-1097" y="103325"/>
                  <a:pt x="488" y="97553"/>
                  <a:pt x="4674" y="94058"/>
                </a:cubicBezTo>
                <a:lnTo>
                  <a:pt x="121738" y="-3496"/>
                </a:lnTo>
                <a:cubicBezTo>
                  <a:pt x="126332" y="-7317"/>
                  <a:pt x="132876" y="-7520"/>
                  <a:pt x="137713" y="-4024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5813312" y="6522631"/>
            <a:ext cx="177763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Assessment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817648" y="6765430"/>
            <a:ext cx="1768967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threat evaluation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764379" y="6175774"/>
            <a:ext cx="1916381" cy="867141"/>
          </a:xfrm>
          <a:custGeom>
            <a:avLst/>
            <a:gdLst/>
            <a:ahLst/>
            <a:cxnLst/>
            <a:rect l="l" t="t" r="r" b="b"/>
            <a:pathLst>
              <a:path w="1916381" h="867141">
                <a:moveTo>
                  <a:pt x="69371" y="0"/>
                </a:moveTo>
                <a:lnTo>
                  <a:pt x="1847010" y="0"/>
                </a:lnTo>
                <a:cubicBezTo>
                  <a:pt x="1885323" y="0"/>
                  <a:pt x="1916381" y="31059"/>
                  <a:pt x="1916381" y="69371"/>
                </a:cubicBezTo>
                <a:lnTo>
                  <a:pt x="1916381" y="797770"/>
                </a:lnTo>
                <a:cubicBezTo>
                  <a:pt x="1916381" y="836082"/>
                  <a:pt x="1885323" y="867141"/>
                  <a:pt x="1847010" y="867141"/>
                </a:cubicBezTo>
                <a:lnTo>
                  <a:pt x="69371" y="867141"/>
                </a:lnTo>
                <a:cubicBezTo>
                  <a:pt x="31059" y="867141"/>
                  <a:pt x="0" y="836082"/>
                  <a:pt x="0" y="797770"/>
                </a:cubicBezTo>
                <a:lnTo>
                  <a:pt x="0" y="69371"/>
                </a:lnTo>
                <a:cubicBezTo>
                  <a:pt x="0" y="31059"/>
                  <a:pt x="31059" y="0"/>
                  <a:pt x="69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8592499" y="6279831"/>
            <a:ext cx="260142" cy="208114"/>
          </a:xfrm>
          <a:custGeom>
            <a:avLst/>
            <a:gdLst/>
            <a:ahLst/>
            <a:cxnLst/>
            <a:rect l="l" t="t" r="r" b="b"/>
            <a:pathLst>
              <a:path w="260142" h="208114">
                <a:moveTo>
                  <a:pt x="130071" y="6504"/>
                </a:moveTo>
                <a:cubicBezTo>
                  <a:pt x="153402" y="6504"/>
                  <a:pt x="172344" y="25446"/>
                  <a:pt x="172344" y="48777"/>
                </a:cubicBezTo>
                <a:cubicBezTo>
                  <a:pt x="172344" y="72108"/>
                  <a:pt x="153402" y="91050"/>
                  <a:pt x="130071" y="91050"/>
                </a:cubicBezTo>
                <a:cubicBezTo>
                  <a:pt x="106740" y="91050"/>
                  <a:pt x="87798" y="72108"/>
                  <a:pt x="87798" y="48777"/>
                </a:cubicBezTo>
                <a:cubicBezTo>
                  <a:pt x="87798" y="25446"/>
                  <a:pt x="106740" y="6504"/>
                  <a:pt x="130071" y="6504"/>
                </a:cubicBezTo>
                <a:close/>
                <a:moveTo>
                  <a:pt x="39021" y="35770"/>
                </a:moveTo>
                <a:cubicBezTo>
                  <a:pt x="55174" y="35770"/>
                  <a:pt x="68287" y="48883"/>
                  <a:pt x="68287" y="65036"/>
                </a:cubicBezTo>
                <a:cubicBezTo>
                  <a:pt x="68287" y="81188"/>
                  <a:pt x="55174" y="94302"/>
                  <a:pt x="39021" y="94302"/>
                </a:cubicBezTo>
                <a:cubicBezTo>
                  <a:pt x="22869" y="94302"/>
                  <a:pt x="9755" y="81188"/>
                  <a:pt x="9755" y="65036"/>
                </a:cubicBezTo>
                <a:cubicBezTo>
                  <a:pt x="9755" y="48883"/>
                  <a:pt x="22869" y="35770"/>
                  <a:pt x="39021" y="35770"/>
                </a:cubicBezTo>
                <a:close/>
                <a:moveTo>
                  <a:pt x="0" y="169092"/>
                </a:moveTo>
                <a:cubicBezTo>
                  <a:pt x="0" y="140355"/>
                  <a:pt x="23291" y="117064"/>
                  <a:pt x="52028" y="117064"/>
                </a:cubicBezTo>
                <a:cubicBezTo>
                  <a:pt x="57231" y="117064"/>
                  <a:pt x="62272" y="117836"/>
                  <a:pt x="67027" y="119259"/>
                </a:cubicBezTo>
                <a:cubicBezTo>
                  <a:pt x="53654" y="134217"/>
                  <a:pt x="45525" y="153972"/>
                  <a:pt x="45525" y="175596"/>
                </a:cubicBezTo>
                <a:lnTo>
                  <a:pt x="45525" y="182100"/>
                </a:lnTo>
                <a:cubicBezTo>
                  <a:pt x="45525" y="186733"/>
                  <a:pt x="46500" y="191123"/>
                  <a:pt x="48248" y="195107"/>
                </a:cubicBezTo>
                <a:lnTo>
                  <a:pt x="13007" y="195107"/>
                </a:lnTo>
                <a:cubicBezTo>
                  <a:pt x="5813" y="195107"/>
                  <a:pt x="0" y="189294"/>
                  <a:pt x="0" y="182100"/>
                </a:cubicBezTo>
                <a:lnTo>
                  <a:pt x="0" y="169092"/>
                </a:lnTo>
                <a:close/>
                <a:moveTo>
                  <a:pt x="211894" y="195107"/>
                </a:moveTo>
                <a:cubicBezTo>
                  <a:pt x="213642" y="191123"/>
                  <a:pt x="214617" y="186733"/>
                  <a:pt x="214617" y="182100"/>
                </a:cubicBezTo>
                <a:lnTo>
                  <a:pt x="214617" y="175596"/>
                </a:lnTo>
                <a:cubicBezTo>
                  <a:pt x="214617" y="153972"/>
                  <a:pt x="206488" y="134217"/>
                  <a:pt x="193115" y="119259"/>
                </a:cubicBezTo>
                <a:cubicBezTo>
                  <a:pt x="197871" y="117836"/>
                  <a:pt x="202911" y="117064"/>
                  <a:pt x="208114" y="117064"/>
                </a:cubicBezTo>
                <a:cubicBezTo>
                  <a:pt x="236851" y="117064"/>
                  <a:pt x="260142" y="140355"/>
                  <a:pt x="260142" y="169092"/>
                </a:cubicBezTo>
                <a:lnTo>
                  <a:pt x="260142" y="182100"/>
                </a:lnTo>
                <a:cubicBezTo>
                  <a:pt x="260142" y="189294"/>
                  <a:pt x="254330" y="195107"/>
                  <a:pt x="247135" y="195107"/>
                </a:cubicBezTo>
                <a:lnTo>
                  <a:pt x="211894" y="195107"/>
                </a:lnTo>
                <a:close/>
                <a:moveTo>
                  <a:pt x="191855" y="65036"/>
                </a:moveTo>
                <a:cubicBezTo>
                  <a:pt x="191855" y="48883"/>
                  <a:pt x="204969" y="35770"/>
                  <a:pt x="221121" y="35770"/>
                </a:cubicBezTo>
                <a:cubicBezTo>
                  <a:pt x="237273" y="35770"/>
                  <a:pt x="250387" y="48883"/>
                  <a:pt x="250387" y="65036"/>
                </a:cubicBezTo>
                <a:cubicBezTo>
                  <a:pt x="250387" y="81188"/>
                  <a:pt x="237273" y="94302"/>
                  <a:pt x="221121" y="94302"/>
                </a:cubicBezTo>
                <a:cubicBezTo>
                  <a:pt x="204969" y="94302"/>
                  <a:pt x="191855" y="81188"/>
                  <a:pt x="191855" y="65036"/>
                </a:cubicBezTo>
                <a:close/>
                <a:moveTo>
                  <a:pt x="65036" y="175596"/>
                </a:moveTo>
                <a:cubicBezTo>
                  <a:pt x="65036" y="139664"/>
                  <a:pt x="94139" y="110560"/>
                  <a:pt x="130071" y="110560"/>
                </a:cubicBezTo>
                <a:cubicBezTo>
                  <a:pt x="166003" y="110560"/>
                  <a:pt x="195107" y="139664"/>
                  <a:pt x="195107" y="175596"/>
                </a:cubicBezTo>
                <a:lnTo>
                  <a:pt x="195107" y="182100"/>
                </a:lnTo>
                <a:cubicBezTo>
                  <a:pt x="195107" y="189294"/>
                  <a:pt x="189294" y="195107"/>
                  <a:pt x="182100" y="195107"/>
                </a:cubicBezTo>
                <a:lnTo>
                  <a:pt x="78043" y="195107"/>
                </a:lnTo>
                <a:cubicBezTo>
                  <a:pt x="70848" y="195107"/>
                  <a:pt x="65036" y="189294"/>
                  <a:pt x="65036" y="182100"/>
                </a:cubicBezTo>
                <a:lnTo>
                  <a:pt x="65036" y="175596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7833750" y="6522631"/>
            <a:ext cx="177763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Understanding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838086" y="6765430"/>
            <a:ext cx="1768967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technical expertise required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784817" y="6175774"/>
            <a:ext cx="1916381" cy="867141"/>
          </a:xfrm>
          <a:custGeom>
            <a:avLst/>
            <a:gdLst/>
            <a:ahLst/>
            <a:cxnLst/>
            <a:rect l="l" t="t" r="r" b="b"/>
            <a:pathLst>
              <a:path w="1916381" h="867141">
                <a:moveTo>
                  <a:pt x="69371" y="0"/>
                </a:moveTo>
                <a:lnTo>
                  <a:pt x="1847010" y="0"/>
                </a:lnTo>
                <a:cubicBezTo>
                  <a:pt x="1885323" y="0"/>
                  <a:pt x="1916381" y="31059"/>
                  <a:pt x="1916381" y="69371"/>
                </a:cubicBezTo>
                <a:lnTo>
                  <a:pt x="1916381" y="797770"/>
                </a:lnTo>
                <a:cubicBezTo>
                  <a:pt x="1916381" y="836082"/>
                  <a:pt x="1885323" y="867141"/>
                  <a:pt x="1847010" y="867141"/>
                </a:cubicBezTo>
                <a:lnTo>
                  <a:pt x="69371" y="867141"/>
                </a:lnTo>
                <a:cubicBezTo>
                  <a:pt x="31059" y="867141"/>
                  <a:pt x="0" y="836082"/>
                  <a:pt x="0" y="797770"/>
                </a:cubicBezTo>
                <a:lnTo>
                  <a:pt x="0" y="69371"/>
                </a:lnTo>
                <a:cubicBezTo>
                  <a:pt x="0" y="31059"/>
                  <a:pt x="31059" y="0"/>
                  <a:pt x="69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10638951" y="6279831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26014" y="26014"/>
                </a:moveTo>
                <a:cubicBezTo>
                  <a:pt x="26014" y="18820"/>
                  <a:pt x="20202" y="13007"/>
                  <a:pt x="13007" y="13007"/>
                </a:cubicBezTo>
                <a:cubicBezTo>
                  <a:pt x="5813" y="13007"/>
                  <a:pt x="0" y="18820"/>
                  <a:pt x="0" y="26014"/>
                </a:cubicBezTo>
                <a:lnTo>
                  <a:pt x="0" y="162589"/>
                </a:lnTo>
                <a:cubicBezTo>
                  <a:pt x="0" y="180555"/>
                  <a:pt x="14552" y="195107"/>
                  <a:pt x="32518" y="195107"/>
                </a:cubicBezTo>
                <a:lnTo>
                  <a:pt x="195107" y="195107"/>
                </a:lnTo>
                <a:cubicBezTo>
                  <a:pt x="202301" y="195107"/>
                  <a:pt x="208114" y="189294"/>
                  <a:pt x="208114" y="182100"/>
                </a:cubicBezTo>
                <a:cubicBezTo>
                  <a:pt x="208114" y="174905"/>
                  <a:pt x="202301" y="169092"/>
                  <a:pt x="195107" y="169092"/>
                </a:cubicBezTo>
                <a:lnTo>
                  <a:pt x="32518" y="169092"/>
                </a:lnTo>
                <a:cubicBezTo>
                  <a:pt x="28941" y="169092"/>
                  <a:pt x="26014" y="166166"/>
                  <a:pt x="26014" y="162589"/>
                </a:cubicBezTo>
                <a:lnTo>
                  <a:pt x="26014" y="26014"/>
                </a:lnTo>
                <a:close/>
                <a:moveTo>
                  <a:pt x="191286" y="61215"/>
                </a:moveTo>
                <a:cubicBezTo>
                  <a:pt x="196367" y="56134"/>
                  <a:pt x="196367" y="47882"/>
                  <a:pt x="191286" y="42802"/>
                </a:cubicBezTo>
                <a:cubicBezTo>
                  <a:pt x="186205" y="37721"/>
                  <a:pt x="177954" y="37721"/>
                  <a:pt x="172873" y="42802"/>
                </a:cubicBezTo>
                <a:lnTo>
                  <a:pt x="130071" y="85644"/>
                </a:lnTo>
                <a:lnTo>
                  <a:pt x="106740" y="62353"/>
                </a:lnTo>
                <a:cubicBezTo>
                  <a:pt x="101659" y="57272"/>
                  <a:pt x="93407" y="57272"/>
                  <a:pt x="88326" y="62353"/>
                </a:cubicBezTo>
                <a:lnTo>
                  <a:pt x="49305" y="101374"/>
                </a:lnTo>
                <a:cubicBezTo>
                  <a:pt x="44224" y="106455"/>
                  <a:pt x="44224" y="114706"/>
                  <a:pt x="49305" y="119787"/>
                </a:cubicBezTo>
                <a:cubicBezTo>
                  <a:pt x="54386" y="124868"/>
                  <a:pt x="62637" y="124868"/>
                  <a:pt x="67718" y="119787"/>
                </a:cubicBezTo>
                <a:lnTo>
                  <a:pt x="97553" y="89952"/>
                </a:lnTo>
                <a:lnTo>
                  <a:pt x="120885" y="113284"/>
                </a:lnTo>
                <a:cubicBezTo>
                  <a:pt x="125966" y="118365"/>
                  <a:pt x="134217" y="118365"/>
                  <a:pt x="139298" y="113284"/>
                </a:cubicBezTo>
                <a:lnTo>
                  <a:pt x="191326" y="61255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9854189" y="6522631"/>
            <a:ext cx="177763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858524" y="6765430"/>
            <a:ext cx="1768967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Guides response 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0550" y="3810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0550" y="64770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Examples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264920"/>
            <a:ext cx="3720465" cy="3815715"/>
          </a:xfrm>
          <a:custGeom>
            <a:avLst/>
            <a:gdLst/>
            <a:ahLst/>
            <a:cxnLst/>
            <a:rect l="l" t="t" r="r" b="b"/>
            <a:pathLst>
              <a:path w="3720465" h="3815715">
                <a:moveTo>
                  <a:pt x="76195" y="0"/>
                </a:moveTo>
                <a:lnTo>
                  <a:pt x="3644270" y="0"/>
                </a:lnTo>
                <a:cubicBezTo>
                  <a:pt x="3686351" y="0"/>
                  <a:pt x="3720465" y="34114"/>
                  <a:pt x="3720465" y="76195"/>
                </a:cubicBezTo>
                <a:lnTo>
                  <a:pt x="3720465" y="3739520"/>
                </a:lnTo>
                <a:cubicBezTo>
                  <a:pt x="3720465" y="3781601"/>
                  <a:pt x="3686351" y="3815715"/>
                  <a:pt x="3644270" y="3815715"/>
                </a:cubicBezTo>
                <a:lnTo>
                  <a:pt x="76195" y="3815715"/>
                </a:lnTo>
                <a:cubicBezTo>
                  <a:pt x="34114" y="3815715"/>
                  <a:pt x="0" y="3781601"/>
                  <a:pt x="0" y="373952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C10007">
                  <a:alpha val="10000"/>
                </a:srgbClr>
              </a:gs>
            </a:gsLst>
            <a:lin ang="2700000" scaled="1"/>
          </a:gradFill>
          <a:ln w="2032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10540" y="13868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3890" y="15201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0133" y="14883"/>
                </a:moveTo>
                <a:cubicBezTo>
                  <a:pt x="110133" y="6660"/>
                  <a:pt x="103473" y="0"/>
                  <a:pt x="95250" y="0"/>
                </a:cubicBezTo>
                <a:cubicBezTo>
                  <a:pt x="87027" y="0"/>
                  <a:pt x="80367" y="6660"/>
                  <a:pt x="80367" y="14883"/>
                </a:cubicBezTo>
                <a:cubicBezTo>
                  <a:pt x="80367" y="31291"/>
                  <a:pt x="60536" y="39477"/>
                  <a:pt x="48927" y="27905"/>
                </a:cubicBezTo>
                <a:cubicBezTo>
                  <a:pt x="43123" y="22101"/>
                  <a:pt x="33710" y="22101"/>
                  <a:pt x="27868" y="27905"/>
                </a:cubicBezTo>
                <a:cubicBezTo>
                  <a:pt x="22027" y="33710"/>
                  <a:pt x="22064" y="43123"/>
                  <a:pt x="27868" y="48964"/>
                </a:cubicBezTo>
                <a:cubicBezTo>
                  <a:pt x="39477" y="60573"/>
                  <a:pt x="31254" y="80404"/>
                  <a:pt x="14846" y="80404"/>
                </a:cubicBezTo>
                <a:cubicBezTo>
                  <a:pt x="6623" y="80404"/>
                  <a:pt x="-37" y="87064"/>
                  <a:pt x="-37" y="95287"/>
                </a:cubicBezTo>
                <a:cubicBezTo>
                  <a:pt x="-37" y="103510"/>
                  <a:pt x="6623" y="110170"/>
                  <a:pt x="14846" y="110170"/>
                </a:cubicBezTo>
                <a:cubicBezTo>
                  <a:pt x="31254" y="110170"/>
                  <a:pt x="39439" y="130001"/>
                  <a:pt x="27868" y="141610"/>
                </a:cubicBezTo>
                <a:cubicBezTo>
                  <a:pt x="22064" y="147414"/>
                  <a:pt x="22064" y="156828"/>
                  <a:pt x="27868" y="162669"/>
                </a:cubicBezTo>
                <a:cubicBezTo>
                  <a:pt x="33672" y="168511"/>
                  <a:pt x="43086" y="168473"/>
                  <a:pt x="48927" y="162669"/>
                </a:cubicBezTo>
                <a:cubicBezTo>
                  <a:pt x="60536" y="151061"/>
                  <a:pt x="80367" y="159283"/>
                  <a:pt x="80367" y="175692"/>
                </a:cubicBezTo>
                <a:cubicBezTo>
                  <a:pt x="80367" y="183914"/>
                  <a:pt x="87027" y="190574"/>
                  <a:pt x="95250" y="190574"/>
                </a:cubicBezTo>
                <a:cubicBezTo>
                  <a:pt x="103473" y="190574"/>
                  <a:pt x="110133" y="183914"/>
                  <a:pt x="110133" y="175692"/>
                </a:cubicBezTo>
                <a:cubicBezTo>
                  <a:pt x="110133" y="159283"/>
                  <a:pt x="129964" y="151098"/>
                  <a:pt x="141573" y="162669"/>
                </a:cubicBezTo>
                <a:cubicBezTo>
                  <a:pt x="147377" y="168473"/>
                  <a:pt x="156790" y="168473"/>
                  <a:pt x="162632" y="162669"/>
                </a:cubicBezTo>
                <a:cubicBezTo>
                  <a:pt x="168473" y="156865"/>
                  <a:pt x="168436" y="147451"/>
                  <a:pt x="162632" y="141610"/>
                </a:cubicBezTo>
                <a:cubicBezTo>
                  <a:pt x="151023" y="130001"/>
                  <a:pt x="159246" y="110170"/>
                  <a:pt x="175654" y="110170"/>
                </a:cubicBezTo>
                <a:cubicBezTo>
                  <a:pt x="183877" y="110170"/>
                  <a:pt x="190537" y="103510"/>
                  <a:pt x="190537" y="95287"/>
                </a:cubicBezTo>
                <a:cubicBezTo>
                  <a:pt x="190537" y="87064"/>
                  <a:pt x="183877" y="80404"/>
                  <a:pt x="175654" y="80404"/>
                </a:cubicBezTo>
                <a:cubicBezTo>
                  <a:pt x="159246" y="80404"/>
                  <a:pt x="151061" y="60573"/>
                  <a:pt x="162632" y="48964"/>
                </a:cubicBezTo>
                <a:cubicBezTo>
                  <a:pt x="168436" y="43160"/>
                  <a:pt x="168436" y="33747"/>
                  <a:pt x="162632" y="27905"/>
                </a:cubicBezTo>
                <a:cubicBezTo>
                  <a:pt x="156828" y="22064"/>
                  <a:pt x="147414" y="22101"/>
                  <a:pt x="141573" y="27905"/>
                </a:cubicBezTo>
                <a:cubicBezTo>
                  <a:pt x="129964" y="39477"/>
                  <a:pt x="110133" y="31291"/>
                  <a:pt x="110133" y="14883"/>
                </a:cubicBezTo>
                <a:close/>
                <a:moveTo>
                  <a:pt x="59531" y="83344"/>
                </a:moveTo>
                <a:cubicBezTo>
                  <a:pt x="59531" y="76773"/>
                  <a:pt x="64866" y="71438"/>
                  <a:pt x="71438" y="71438"/>
                </a:cubicBezTo>
                <a:cubicBezTo>
                  <a:pt x="78009" y="71438"/>
                  <a:pt x="83344" y="76773"/>
                  <a:pt x="83344" y="83344"/>
                </a:cubicBezTo>
                <a:cubicBezTo>
                  <a:pt x="83344" y="89915"/>
                  <a:pt x="78009" y="95250"/>
                  <a:pt x="71438" y="95250"/>
                </a:cubicBezTo>
                <a:cubicBezTo>
                  <a:pt x="64866" y="95250"/>
                  <a:pt x="59531" y="89915"/>
                  <a:pt x="59531" y="83344"/>
                </a:cubicBezTo>
                <a:close/>
                <a:moveTo>
                  <a:pt x="119063" y="95250"/>
                </a:moveTo>
                <a:cubicBezTo>
                  <a:pt x="125634" y="95250"/>
                  <a:pt x="130969" y="100585"/>
                  <a:pt x="130969" y="107156"/>
                </a:cubicBezTo>
                <a:cubicBezTo>
                  <a:pt x="130969" y="113727"/>
                  <a:pt x="125634" y="119063"/>
                  <a:pt x="119063" y="119063"/>
                </a:cubicBezTo>
                <a:cubicBezTo>
                  <a:pt x="112491" y="119063"/>
                  <a:pt x="107156" y="113727"/>
                  <a:pt x="107156" y="107156"/>
                </a:cubicBezTo>
                <a:cubicBezTo>
                  <a:pt x="107156" y="100585"/>
                  <a:pt x="112491" y="95250"/>
                  <a:pt x="119063" y="9525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82040" y="1386836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2040" y="1653536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Final: </a:t>
            </a: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 pts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0540" y="19202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7690" y="1977386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(Critical)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88450" y="1977386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540" y="22821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67690" y="2339336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88569" y="2339336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540" y="26441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7690" y="2701286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(Encrypted)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4048" y="2701286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0540" y="30060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7690" y="3063236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(Mal, 90%)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1429" y="3063236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0540" y="33680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67690" y="3425186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 (65/70)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12143" y="3425186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0540" y="37299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67690" y="3787136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6315" y="37871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0540" y="40919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67690" y="4149086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Anomalies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60363" y="4149086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4350" y="4606287"/>
            <a:ext cx="3465195" cy="350520"/>
          </a:xfrm>
          <a:custGeom>
            <a:avLst/>
            <a:gdLst/>
            <a:ahLst/>
            <a:cxnLst/>
            <a:rect l="l" t="t" r="r" b="b"/>
            <a:pathLst>
              <a:path w="3465195" h="350520">
                <a:moveTo>
                  <a:pt x="76200" y="0"/>
                </a:moveTo>
                <a:lnTo>
                  <a:pt x="3388995" y="0"/>
                </a:lnTo>
                <a:cubicBezTo>
                  <a:pt x="3431079" y="0"/>
                  <a:pt x="3465195" y="34116"/>
                  <a:pt x="3465195" y="76200"/>
                </a:cubicBezTo>
                <a:lnTo>
                  <a:pt x="3465195" y="274320"/>
                </a:lnTo>
                <a:cubicBezTo>
                  <a:pt x="3465195" y="316404"/>
                  <a:pt x="3431079" y="350520"/>
                  <a:pt x="33889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61023" y="46863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⛔ MALICIOUS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36720" y="1264920"/>
            <a:ext cx="3720465" cy="3815715"/>
          </a:xfrm>
          <a:custGeom>
            <a:avLst/>
            <a:gdLst/>
            <a:ahLst/>
            <a:cxnLst/>
            <a:rect l="l" t="t" r="r" b="b"/>
            <a:pathLst>
              <a:path w="3720465" h="3815715">
                <a:moveTo>
                  <a:pt x="76195" y="0"/>
                </a:moveTo>
                <a:lnTo>
                  <a:pt x="3644270" y="0"/>
                </a:lnTo>
                <a:cubicBezTo>
                  <a:pt x="3686351" y="0"/>
                  <a:pt x="3720465" y="34114"/>
                  <a:pt x="3720465" y="76195"/>
                </a:cubicBezTo>
                <a:lnTo>
                  <a:pt x="3720465" y="3739520"/>
                </a:lnTo>
                <a:cubicBezTo>
                  <a:pt x="3720465" y="3781601"/>
                  <a:pt x="3686351" y="3815715"/>
                  <a:pt x="3644270" y="3815715"/>
                </a:cubicBezTo>
                <a:lnTo>
                  <a:pt x="76195" y="3815715"/>
                </a:lnTo>
                <a:cubicBezTo>
                  <a:pt x="34114" y="3815715"/>
                  <a:pt x="0" y="3781601"/>
                  <a:pt x="0" y="373952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>
                  <a:alpha val="20000"/>
                </a:srgbClr>
              </a:gs>
              <a:gs pos="100000">
                <a:srgbClr val="CA3500">
                  <a:alpha val="10000"/>
                </a:srgbClr>
              </a:gs>
            </a:gsLst>
            <a:lin ang="2700000" scaled="1"/>
          </a:gradFill>
          <a:ln w="20320">
            <a:solidFill>
              <a:srgbClr val="F0B1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358640" y="13868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491990" y="15201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30140" y="1386836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PUA/PUP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30140" y="1653536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Final: </a:t>
            </a: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54 pts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58640" y="19202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415790" y="1977386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(Medium)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01796" y="197738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58640" y="22821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415790" y="2339336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36907" y="2339336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58640" y="26441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415790" y="2701286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(Packed)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47384" y="2701286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58640" y="30060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415790" y="3063236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(Susp, 75%)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1796" y="30632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358640" y="33680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415790" y="3425186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 (12/70)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04773" y="342518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58640" y="37299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415790" y="3787136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15250" y="3787136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58640" y="40919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415790" y="4149086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Anomalies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708225" y="4149086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62450" y="4606287"/>
            <a:ext cx="3465195" cy="350520"/>
          </a:xfrm>
          <a:custGeom>
            <a:avLst/>
            <a:gdLst/>
            <a:ahLst/>
            <a:cxnLst/>
            <a:rect l="l" t="t" r="r" b="b"/>
            <a:pathLst>
              <a:path w="3465195" h="350520">
                <a:moveTo>
                  <a:pt x="76200" y="0"/>
                </a:moveTo>
                <a:lnTo>
                  <a:pt x="3388995" y="0"/>
                </a:lnTo>
                <a:cubicBezTo>
                  <a:pt x="3431079" y="0"/>
                  <a:pt x="3465195" y="34116"/>
                  <a:pt x="3465195" y="76200"/>
                </a:cubicBezTo>
                <a:lnTo>
                  <a:pt x="3465195" y="274320"/>
                </a:lnTo>
                <a:cubicBezTo>
                  <a:pt x="3465195" y="316404"/>
                  <a:pt x="3431079" y="350520"/>
                  <a:pt x="33889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10160">
            <a:solidFill>
              <a:srgbClr val="F0B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409122" y="46863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 SUSPICIOUS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84820" y="1264920"/>
            <a:ext cx="3720465" cy="3815715"/>
          </a:xfrm>
          <a:custGeom>
            <a:avLst/>
            <a:gdLst/>
            <a:ahLst/>
            <a:cxnLst/>
            <a:rect l="l" t="t" r="r" b="b"/>
            <a:pathLst>
              <a:path w="3720465" h="3815715">
                <a:moveTo>
                  <a:pt x="76195" y="0"/>
                </a:moveTo>
                <a:lnTo>
                  <a:pt x="3644270" y="0"/>
                </a:lnTo>
                <a:cubicBezTo>
                  <a:pt x="3686351" y="0"/>
                  <a:pt x="3720465" y="34114"/>
                  <a:pt x="3720465" y="76195"/>
                </a:cubicBezTo>
                <a:lnTo>
                  <a:pt x="3720465" y="3739520"/>
                </a:lnTo>
                <a:cubicBezTo>
                  <a:pt x="3720465" y="3781601"/>
                  <a:pt x="3686351" y="3815715"/>
                  <a:pt x="3644270" y="3815715"/>
                </a:cubicBezTo>
                <a:lnTo>
                  <a:pt x="76195" y="3815715"/>
                </a:lnTo>
                <a:cubicBezTo>
                  <a:pt x="34114" y="3815715"/>
                  <a:pt x="0" y="3781601"/>
                  <a:pt x="0" y="373952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>
                  <a:alpha val="20000"/>
                </a:srgbClr>
              </a:gs>
              <a:gs pos="100000">
                <a:srgbClr val="008236">
                  <a:alpha val="10000"/>
                </a:srgbClr>
              </a:gs>
            </a:gsLst>
            <a:lin ang="2700000" scaled="1"/>
          </a:gradFill>
          <a:ln w="2032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206740" y="13868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8340090" y="15201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8778240" y="1386836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Tool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778240" y="1653536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Final: </a:t>
            </a: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pts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06740" y="19202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8263890" y="1977386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YARA (Low)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552873" y="197738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06740" y="22821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8263890" y="2339336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514059" y="2339336"/>
            <a:ext cx="18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06740" y="26441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8263890" y="2701286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(Normal)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537752" y="2701286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06740" y="30060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8263890" y="3063236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(Benign)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537752" y="3063236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206740" y="33680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8263890" y="3425186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VirusTotal (1/70)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537752" y="3425186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06740" y="372998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/>
          <p:nvPr/>
        </p:nvSpPr>
        <p:spPr>
          <a:xfrm>
            <a:off x="8263890" y="3787136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552873" y="37871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06740" y="4091936"/>
            <a:ext cx="3476625" cy="304800"/>
          </a:xfrm>
          <a:custGeom>
            <a:avLst/>
            <a:gdLst/>
            <a:ahLst/>
            <a:cxnLst/>
            <a:rect l="l" t="t" r="r" b="b"/>
            <a:pathLst>
              <a:path w="3476625" h="304800">
                <a:moveTo>
                  <a:pt x="38100" y="0"/>
                </a:moveTo>
                <a:lnTo>
                  <a:pt x="3438525" y="0"/>
                </a:lnTo>
                <a:cubicBezTo>
                  <a:pt x="3459553" y="0"/>
                  <a:pt x="3476625" y="17072"/>
                  <a:pt x="3476625" y="38100"/>
                </a:cubicBezTo>
                <a:lnTo>
                  <a:pt x="3476625" y="266700"/>
                </a:lnTo>
                <a:cubicBezTo>
                  <a:pt x="3476625" y="287728"/>
                  <a:pt x="3459553" y="304800"/>
                  <a:pt x="34385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8263890" y="4149086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 Anomalies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1537752" y="4149086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10550" y="4606287"/>
            <a:ext cx="3465195" cy="350520"/>
          </a:xfrm>
          <a:custGeom>
            <a:avLst/>
            <a:gdLst/>
            <a:ahLst/>
            <a:cxnLst/>
            <a:rect l="l" t="t" r="r" b="b"/>
            <a:pathLst>
              <a:path w="3465195" h="350520">
                <a:moveTo>
                  <a:pt x="76200" y="0"/>
                </a:moveTo>
                <a:lnTo>
                  <a:pt x="3388995" y="0"/>
                </a:lnTo>
                <a:cubicBezTo>
                  <a:pt x="3431079" y="0"/>
                  <a:pt x="3465195" y="34116"/>
                  <a:pt x="3465195" y="76200"/>
                </a:cubicBezTo>
                <a:lnTo>
                  <a:pt x="3465195" y="274320"/>
                </a:lnTo>
                <a:cubicBezTo>
                  <a:pt x="3465195" y="316404"/>
                  <a:pt x="3431079" y="350520"/>
                  <a:pt x="33889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0160">
            <a:solidFill>
              <a:srgbClr val="00C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8257223" y="46863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BENIGN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84810" y="5208269"/>
            <a:ext cx="11418570" cy="1264920"/>
          </a:xfrm>
          <a:custGeom>
            <a:avLst/>
            <a:gdLst/>
            <a:ahLst/>
            <a:cxnLst/>
            <a:rect l="l" t="t" r="r" b="b"/>
            <a:pathLst>
              <a:path w="11418570" h="1264920">
                <a:moveTo>
                  <a:pt x="76199" y="0"/>
                </a:moveTo>
                <a:lnTo>
                  <a:pt x="11342371" y="0"/>
                </a:lnTo>
                <a:cubicBezTo>
                  <a:pt x="11384455" y="0"/>
                  <a:pt x="11418570" y="34115"/>
                  <a:pt x="11418570" y="76199"/>
                </a:cubicBezTo>
                <a:lnTo>
                  <a:pt x="11418570" y="1188721"/>
                </a:lnTo>
                <a:cubicBezTo>
                  <a:pt x="11418570" y="1230805"/>
                  <a:pt x="11384455" y="1264920"/>
                  <a:pt x="1134237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10160">
            <a:solidFill>
              <a:srgbClr val="6C7A8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455295" y="5326377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Methodology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521970" y="5669277"/>
            <a:ext cx="2695575" cy="685800"/>
          </a:xfrm>
          <a:custGeom>
            <a:avLst/>
            <a:gdLst/>
            <a:ahLst/>
            <a:cxnLst/>
            <a:rect l="l" t="t" r="r" b="b"/>
            <a:pathLst>
              <a:path w="2695575" h="685800">
                <a:moveTo>
                  <a:pt x="0" y="0"/>
                </a:moveTo>
                <a:lnTo>
                  <a:pt x="2619376" y="0"/>
                </a:lnTo>
                <a:cubicBezTo>
                  <a:pt x="2661459" y="0"/>
                  <a:pt x="2695575" y="34116"/>
                  <a:pt x="2695575" y="76199"/>
                </a:cubicBezTo>
                <a:lnTo>
                  <a:pt x="2695575" y="609601"/>
                </a:lnTo>
                <a:cubicBezTo>
                  <a:pt x="2695575" y="651684"/>
                  <a:pt x="2661459" y="685800"/>
                  <a:pt x="2619376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521970" y="5669277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674370" y="58216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922020" y="5783577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55320" y="6050277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all component scores for a total.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3347085" y="5669277"/>
            <a:ext cx="2695575" cy="685800"/>
          </a:xfrm>
          <a:custGeom>
            <a:avLst/>
            <a:gdLst/>
            <a:ahLst/>
            <a:cxnLst/>
            <a:rect l="l" t="t" r="r" b="b"/>
            <a:pathLst>
              <a:path w="2695575" h="685800">
                <a:moveTo>
                  <a:pt x="0" y="0"/>
                </a:moveTo>
                <a:lnTo>
                  <a:pt x="2619376" y="0"/>
                </a:lnTo>
                <a:cubicBezTo>
                  <a:pt x="2661459" y="0"/>
                  <a:pt x="2695575" y="34116"/>
                  <a:pt x="2695575" y="76199"/>
                </a:cubicBezTo>
                <a:lnTo>
                  <a:pt x="2695575" y="609601"/>
                </a:lnTo>
                <a:cubicBezTo>
                  <a:pt x="2695575" y="651684"/>
                  <a:pt x="2661459" y="685800"/>
                  <a:pt x="2619376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7" name="Shape 95"/>
          <p:cNvSpPr/>
          <p:nvPr/>
        </p:nvSpPr>
        <p:spPr>
          <a:xfrm>
            <a:off x="3347085" y="5669277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3499485" y="58216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5731" y="66675"/>
                </a:moveTo>
                <a:lnTo>
                  <a:pt x="92869" y="66675"/>
                </a:lnTo>
                <a:cubicBezTo>
                  <a:pt x="88910" y="66675"/>
                  <a:pt x="85725" y="63490"/>
                  <a:pt x="85725" y="59531"/>
                </a:cubicBezTo>
                <a:lnTo>
                  <a:pt x="85725" y="16669"/>
                </a:lnTo>
                <a:cubicBezTo>
                  <a:pt x="85725" y="13781"/>
                  <a:pt x="87451" y="11162"/>
                  <a:pt x="90130" y="10061"/>
                </a:cubicBezTo>
                <a:cubicBezTo>
                  <a:pt x="92809" y="8959"/>
                  <a:pt x="95875" y="9585"/>
                  <a:pt x="97929" y="11609"/>
                </a:cubicBezTo>
                <a:lnTo>
                  <a:pt x="109835" y="23515"/>
                </a:lnTo>
                <a:lnTo>
                  <a:pt x="131683" y="1667"/>
                </a:lnTo>
                <a:cubicBezTo>
                  <a:pt x="132755" y="595"/>
                  <a:pt x="134213" y="0"/>
                  <a:pt x="135731" y="0"/>
                </a:cubicBezTo>
                <a:cubicBezTo>
                  <a:pt x="137249" y="0"/>
                  <a:pt x="138708" y="595"/>
                  <a:pt x="139809" y="1697"/>
                </a:cubicBezTo>
                <a:lnTo>
                  <a:pt x="150733" y="12621"/>
                </a:lnTo>
                <a:cubicBezTo>
                  <a:pt x="151805" y="13692"/>
                  <a:pt x="152400" y="15151"/>
                  <a:pt x="152400" y="16669"/>
                </a:cubicBezTo>
                <a:cubicBezTo>
                  <a:pt x="152400" y="18187"/>
                  <a:pt x="151805" y="19645"/>
                  <a:pt x="150703" y="20747"/>
                </a:cubicBezTo>
                <a:lnTo>
                  <a:pt x="128885" y="42565"/>
                </a:lnTo>
                <a:lnTo>
                  <a:pt x="140791" y="54471"/>
                </a:lnTo>
                <a:cubicBezTo>
                  <a:pt x="142845" y="56525"/>
                  <a:pt x="143441" y="59591"/>
                  <a:pt x="142339" y="62270"/>
                </a:cubicBezTo>
                <a:cubicBezTo>
                  <a:pt x="141238" y="64949"/>
                  <a:pt x="138619" y="66675"/>
                  <a:pt x="135731" y="66675"/>
                </a:cubicBezTo>
                <a:close/>
                <a:moveTo>
                  <a:pt x="135731" y="85725"/>
                </a:moveTo>
                <a:cubicBezTo>
                  <a:pt x="138619" y="85725"/>
                  <a:pt x="141238" y="87451"/>
                  <a:pt x="142339" y="90130"/>
                </a:cubicBezTo>
                <a:cubicBezTo>
                  <a:pt x="143441" y="92809"/>
                  <a:pt x="142845" y="95875"/>
                  <a:pt x="140791" y="97929"/>
                </a:cubicBezTo>
                <a:lnTo>
                  <a:pt x="128885" y="109835"/>
                </a:lnTo>
                <a:lnTo>
                  <a:pt x="150733" y="131683"/>
                </a:lnTo>
                <a:cubicBezTo>
                  <a:pt x="151805" y="132755"/>
                  <a:pt x="152430" y="134213"/>
                  <a:pt x="152430" y="135761"/>
                </a:cubicBezTo>
                <a:cubicBezTo>
                  <a:pt x="152430" y="137309"/>
                  <a:pt x="151834" y="138738"/>
                  <a:pt x="150733" y="139839"/>
                </a:cubicBezTo>
                <a:lnTo>
                  <a:pt x="139809" y="150763"/>
                </a:lnTo>
                <a:cubicBezTo>
                  <a:pt x="138708" y="151805"/>
                  <a:pt x="137249" y="152400"/>
                  <a:pt x="135731" y="152400"/>
                </a:cubicBezTo>
                <a:cubicBezTo>
                  <a:pt x="134213" y="152400"/>
                  <a:pt x="132755" y="151805"/>
                  <a:pt x="131653" y="150703"/>
                </a:cubicBezTo>
                <a:lnTo>
                  <a:pt x="109835" y="128885"/>
                </a:lnTo>
                <a:lnTo>
                  <a:pt x="97929" y="140791"/>
                </a:lnTo>
                <a:cubicBezTo>
                  <a:pt x="95875" y="142845"/>
                  <a:pt x="92809" y="143441"/>
                  <a:pt x="90130" y="142339"/>
                </a:cubicBezTo>
                <a:cubicBezTo>
                  <a:pt x="87451" y="141238"/>
                  <a:pt x="85725" y="138619"/>
                  <a:pt x="85725" y="135731"/>
                </a:cubicBezTo>
                <a:lnTo>
                  <a:pt x="85725" y="92869"/>
                </a:lnTo>
                <a:cubicBezTo>
                  <a:pt x="85725" y="88910"/>
                  <a:pt x="88910" y="85725"/>
                  <a:pt x="92869" y="85725"/>
                </a:cubicBezTo>
                <a:lnTo>
                  <a:pt x="135731" y="85725"/>
                </a:lnTo>
                <a:close/>
                <a:moveTo>
                  <a:pt x="59531" y="85725"/>
                </a:moveTo>
                <a:cubicBezTo>
                  <a:pt x="63490" y="85725"/>
                  <a:pt x="66675" y="88910"/>
                  <a:pt x="66675" y="92869"/>
                </a:cubicBezTo>
                <a:lnTo>
                  <a:pt x="66675" y="135731"/>
                </a:lnTo>
                <a:cubicBezTo>
                  <a:pt x="66675" y="138619"/>
                  <a:pt x="64949" y="141238"/>
                  <a:pt x="62270" y="142339"/>
                </a:cubicBezTo>
                <a:cubicBezTo>
                  <a:pt x="59591" y="143441"/>
                  <a:pt x="56525" y="142845"/>
                  <a:pt x="54471" y="140791"/>
                </a:cubicBezTo>
                <a:lnTo>
                  <a:pt x="42565" y="128885"/>
                </a:lnTo>
                <a:lnTo>
                  <a:pt x="20717" y="150733"/>
                </a:lnTo>
                <a:cubicBezTo>
                  <a:pt x="19645" y="151805"/>
                  <a:pt x="18187" y="152400"/>
                  <a:pt x="16669" y="152400"/>
                </a:cubicBezTo>
                <a:cubicBezTo>
                  <a:pt x="15151" y="152400"/>
                  <a:pt x="13692" y="151805"/>
                  <a:pt x="12591" y="150703"/>
                </a:cubicBezTo>
                <a:lnTo>
                  <a:pt x="1697" y="139809"/>
                </a:lnTo>
                <a:cubicBezTo>
                  <a:pt x="595" y="138708"/>
                  <a:pt x="0" y="137249"/>
                  <a:pt x="0" y="135731"/>
                </a:cubicBezTo>
                <a:cubicBezTo>
                  <a:pt x="0" y="134213"/>
                  <a:pt x="595" y="132755"/>
                  <a:pt x="1697" y="131653"/>
                </a:cubicBezTo>
                <a:lnTo>
                  <a:pt x="23515" y="109835"/>
                </a:lnTo>
                <a:lnTo>
                  <a:pt x="11609" y="97929"/>
                </a:lnTo>
                <a:cubicBezTo>
                  <a:pt x="9555" y="95875"/>
                  <a:pt x="8959" y="92809"/>
                  <a:pt x="10061" y="90130"/>
                </a:cubicBezTo>
                <a:cubicBezTo>
                  <a:pt x="11162" y="87451"/>
                  <a:pt x="13781" y="85725"/>
                  <a:pt x="16669" y="85725"/>
                </a:cubicBezTo>
                <a:lnTo>
                  <a:pt x="59531" y="85725"/>
                </a:lnTo>
                <a:close/>
                <a:moveTo>
                  <a:pt x="16669" y="66675"/>
                </a:moveTo>
                <a:cubicBezTo>
                  <a:pt x="13781" y="66675"/>
                  <a:pt x="11162" y="64949"/>
                  <a:pt x="10061" y="62270"/>
                </a:cubicBezTo>
                <a:cubicBezTo>
                  <a:pt x="8959" y="59591"/>
                  <a:pt x="9585" y="56525"/>
                  <a:pt x="11609" y="54471"/>
                </a:cubicBezTo>
                <a:lnTo>
                  <a:pt x="23515" y="42565"/>
                </a:lnTo>
                <a:lnTo>
                  <a:pt x="1697" y="20747"/>
                </a:lnTo>
                <a:cubicBezTo>
                  <a:pt x="595" y="19645"/>
                  <a:pt x="0" y="18187"/>
                  <a:pt x="0" y="16669"/>
                </a:cubicBezTo>
                <a:cubicBezTo>
                  <a:pt x="0" y="15151"/>
                  <a:pt x="595" y="13692"/>
                  <a:pt x="1697" y="12591"/>
                </a:cubicBezTo>
                <a:lnTo>
                  <a:pt x="12591" y="1697"/>
                </a:lnTo>
                <a:cubicBezTo>
                  <a:pt x="13692" y="595"/>
                  <a:pt x="15151" y="0"/>
                  <a:pt x="16669" y="0"/>
                </a:cubicBezTo>
                <a:cubicBezTo>
                  <a:pt x="18187" y="0"/>
                  <a:pt x="19645" y="595"/>
                  <a:pt x="20747" y="1697"/>
                </a:cubicBezTo>
                <a:lnTo>
                  <a:pt x="42565" y="23515"/>
                </a:lnTo>
                <a:lnTo>
                  <a:pt x="54471" y="11609"/>
                </a:lnTo>
                <a:cubicBezTo>
                  <a:pt x="56525" y="9555"/>
                  <a:pt x="59591" y="8959"/>
                  <a:pt x="62270" y="10061"/>
                </a:cubicBezTo>
                <a:cubicBezTo>
                  <a:pt x="64949" y="11162"/>
                  <a:pt x="66675" y="13781"/>
                  <a:pt x="66675" y="16669"/>
                </a:cubicBezTo>
                <a:lnTo>
                  <a:pt x="66675" y="59531"/>
                </a:lnTo>
                <a:cubicBezTo>
                  <a:pt x="66675" y="63490"/>
                  <a:pt x="63490" y="66675"/>
                  <a:pt x="59531" y="66675"/>
                </a:cubicBezTo>
                <a:lnTo>
                  <a:pt x="16669" y="66675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3747135" y="5783577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3480435" y="6050277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 the final score at 100.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172200" y="5669277"/>
            <a:ext cx="2695575" cy="685800"/>
          </a:xfrm>
          <a:custGeom>
            <a:avLst/>
            <a:gdLst/>
            <a:ahLst/>
            <a:cxnLst/>
            <a:rect l="l" t="t" r="r" b="b"/>
            <a:pathLst>
              <a:path w="2695575" h="685800">
                <a:moveTo>
                  <a:pt x="0" y="0"/>
                </a:moveTo>
                <a:lnTo>
                  <a:pt x="2619376" y="0"/>
                </a:lnTo>
                <a:cubicBezTo>
                  <a:pt x="2661459" y="0"/>
                  <a:pt x="2695575" y="34116"/>
                  <a:pt x="2695575" y="76199"/>
                </a:cubicBezTo>
                <a:lnTo>
                  <a:pt x="2695575" y="609601"/>
                </a:lnTo>
                <a:cubicBezTo>
                  <a:pt x="2695575" y="651684"/>
                  <a:pt x="2661459" y="685800"/>
                  <a:pt x="2619376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2" name="Shape 100"/>
          <p:cNvSpPr/>
          <p:nvPr/>
        </p:nvSpPr>
        <p:spPr>
          <a:xfrm>
            <a:off x="6172200" y="5669277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6324600" y="58216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6572250" y="5783577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Weighting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6305550" y="6050277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analysis has the highest weight.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997315" y="5669277"/>
            <a:ext cx="2695575" cy="685800"/>
          </a:xfrm>
          <a:custGeom>
            <a:avLst/>
            <a:gdLst/>
            <a:ahLst/>
            <a:cxnLst/>
            <a:rect l="l" t="t" r="r" b="b"/>
            <a:pathLst>
              <a:path w="2695575" h="685800">
                <a:moveTo>
                  <a:pt x="0" y="0"/>
                </a:moveTo>
                <a:lnTo>
                  <a:pt x="2619376" y="0"/>
                </a:lnTo>
                <a:cubicBezTo>
                  <a:pt x="2661459" y="0"/>
                  <a:pt x="2695575" y="34116"/>
                  <a:pt x="2695575" y="76199"/>
                </a:cubicBezTo>
                <a:lnTo>
                  <a:pt x="2695575" y="609601"/>
                </a:lnTo>
                <a:cubicBezTo>
                  <a:pt x="2695575" y="651684"/>
                  <a:pt x="2661459" y="685800"/>
                  <a:pt x="2619376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7" name="Shape 105"/>
          <p:cNvSpPr/>
          <p:nvPr/>
        </p:nvSpPr>
        <p:spPr>
          <a:xfrm>
            <a:off x="8997315" y="5669277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9149715" y="58216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98A6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9397365" y="5783577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9130665" y="6050277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score to risk level via thresholds.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sentire-dot-com-assets.s3.amazonaws.com/2798fe5fb5ccd8c9b38b25f94a7f3be1e438df8f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6532" b="26532"/>
          <a:stretch/>
        </p:blipFill>
        <p:spPr>
          <a:xfrm>
            <a:off x="0" y="0"/>
            <a:ext cx="12192000" cy="70711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071175"/>
          </a:xfrm>
          <a:custGeom>
            <a:avLst/>
            <a:gdLst/>
            <a:ahLst/>
            <a:cxnLst/>
            <a:rect l="l" t="t" r="r" b="b"/>
            <a:pathLst>
              <a:path w="12192000" h="7071175">
                <a:moveTo>
                  <a:pt x="0" y="0"/>
                </a:moveTo>
                <a:lnTo>
                  <a:pt x="12192000" y="0"/>
                </a:lnTo>
                <a:lnTo>
                  <a:pt x="12192000" y="7071175"/>
                </a:lnTo>
                <a:lnTo>
                  <a:pt x="0" y="70711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73432" y="3120"/>
            <a:ext cx="2540077" cy="451076"/>
          </a:xfrm>
          <a:custGeom>
            <a:avLst/>
            <a:gdLst/>
            <a:ahLst/>
            <a:cxnLst/>
            <a:rect l="l" t="t" r="r" b="b"/>
            <a:pathLst>
              <a:path w="2540077" h="451076">
                <a:moveTo>
                  <a:pt x="73945" y="0"/>
                </a:moveTo>
                <a:lnTo>
                  <a:pt x="2466132" y="0"/>
                </a:lnTo>
                <a:cubicBezTo>
                  <a:pt x="2506971" y="0"/>
                  <a:pt x="2540077" y="33106"/>
                  <a:pt x="2540077" y="73945"/>
                </a:cubicBezTo>
                <a:lnTo>
                  <a:pt x="2540077" y="377131"/>
                </a:lnTo>
                <a:cubicBezTo>
                  <a:pt x="2540077" y="417970"/>
                  <a:pt x="2506971" y="451076"/>
                  <a:pt x="2466132" y="451076"/>
                </a:cubicBezTo>
                <a:lnTo>
                  <a:pt x="73945" y="451076"/>
                </a:lnTo>
                <a:cubicBezTo>
                  <a:pt x="33134" y="451076"/>
                  <a:pt x="0" y="417943"/>
                  <a:pt x="0" y="377131"/>
                </a:cubicBezTo>
                <a:lnTo>
                  <a:pt x="0" y="73945"/>
                </a:lnTo>
                <a:cubicBezTo>
                  <a:pt x="0" y="33106"/>
                  <a:pt x="33106" y="0"/>
                  <a:pt x="73945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1997" y="136222"/>
            <a:ext cx="224452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kern="0" spc="13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9735" y="827624"/>
            <a:ext cx="11729832" cy="138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36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36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Next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9735" y="2435970"/>
            <a:ext cx="1035257" cy="0"/>
          </a:xfrm>
          <a:custGeom>
            <a:avLst/>
            <a:gdLst/>
            <a:ahLst/>
            <a:cxnLst/>
            <a:rect l="l" t="t" r="r" b="b"/>
            <a:pathLst>
              <a:path w="1035257">
                <a:moveTo>
                  <a:pt x="0" y="0"/>
                </a:moveTo>
                <a:lnTo>
                  <a:pt x="1035257" y="0"/>
                </a:lnTo>
                <a:lnTo>
                  <a:pt x="1035257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73432" y="2735455"/>
            <a:ext cx="4610591" cy="1652714"/>
          </a:xfrm>
          <a:custGeom>
            <a:avLst/>
            <a:gdLst/>
            <a:ahLst/>
            <a:cxnLst/>
            <a:rect l="l" t="t" r="r" b="b"/>
            <a:pathLst>
              <a:path w="4610591" h="1652714">
                <a:moveTo>
                  <a:pt x="73942" y="0"/>
                </a:moveTo>
                <a:lnTo>
                  <a:pt x="4536649" y="0"/>
                </a:lnTo>
                <a:cubicBezTo>
                  <a:pt x="4577486" y="0"/>
                  <a:pt x="4610591" y="33105"/>
                  <a:pt x="4610591" y="73942"/>
                </a:cubicBezTo>
                <a:lnTo>
                  <a:pt x="4610591" y="1578771"/>
                </a:lnTo>
                <a:cubicBezTo>
                  <a:pt x="4610591" y="1619609"/>
                  <a:pt x="4577486" y="1652714"/>
                  <a:pt x="4536649" y="1652714"/>
                </a:cubicBezTo>
                <a:lnTo>
                  <a:pt x="73942" y="1652714"/>
                </a:lnTo>
                <a:cubicBezTo>
                  <a:pt x="33105" y="1652714"/>
                  <a:pt x="0" y="1619609"/>
                  <a:pt x="0" y="1578771"/>
                </a:cubicBezTo>
                <a:lnTo>
                  <a:pt x="0" y="73942"/>
                </a:lnTo>
                <a:cubicBezTo>
                  <a:pt x="0" y="33132"/>
                  <a:pt x="33132" y="0"/>
                  <a:pt x="7394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61997" y="2924022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110920" y="0"/>
                </a:moveTo>
                <a:lnTo>
                  <a:pt x="332761" y="0"/>
                </a:lnTo>
                <a:cubicBezTo>
                  <a:pt x="394021" y="0"/>
                  <a:pt x="443682" y="49661"/>
                  <a:pt x="443682" y="110920"/>
                </a:cubicBezTo>
                <a:lnTo>
                  <a:pt x="443682" y="332761"/>
                </a:lnTo>
                <a:cubicBezTo>
                  <a:pt x="443682" y="394021"/>
                  <a:pt x="394021" y="443682"/>
                  <a:pt x="332761" y="443682"/>
                </a:cubicBezTo>
                <a:lnTo>
                  <a:pt x="110920" y="443682"/>
                </a:lnTo>
                <a:cubicBezTo>
                  <a:pt x="49661" y="443682"/>
                  <a:pt x="0" y="394021"/>
                  <a:pt x="0" y="332761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91404" y="3053430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46217" y="115542"/>
                </a:moveTo>
                <a:lnTo>
                  <a:pt x="8846" y="115542"/>
                </a:lnTo>
                <a:cubicBezTo>
                  <a:pt x="-144" y="115542"/>
                  <a:pt x="-5669" y="105757"/>
                  <a:pt x="-1047" y="98030"/>
                </a:cubicBezTo>
                <a:lnTo>
                  <a:pt x="18053" y="66184"/>
                </a:lnTo>
                <a:cubicBezTo>
                  <a:pt x="21195" y="60948"/>
                  <a:pt x="26827" y="57771"/>
                  <a:pt x="32929" y="57771"/>
                </a:cubicBezTo>
                <a:lnTo>
                  <a:pt x="67231" y="57771"/>
                </a:lnTo>
                <a:cubicBezTo>
                  <a:pt x="94708" y="11229"/>
                  <a:pt x="135690" y="8882"/>
                  <a:pt x="163095" y="12890"/>
                </a:cubicBezTo>
                <a:cubicBezTo>
                  <a:pt x="167717" y="13576"/>
                  <a:pt x="171327" y="17187"/>
                  <a:pt x="171977" y="21772"/>
                </a:cubicBezTo>
                <a:cubicBezTo>
                  <a:pt x="175985" y="49178"/>
                  <a:pt x="173638" y="90159"/>
                  <a:pt x="127096" y="117636"/>
                </a:cubicBezTo>
                <a:lnTo>
                  <a:pt x="127096" y="151938"/>
                </a:lnTo>
                <a:cubicBezTo>
                  <a:pt x="127096" y="158040"/>
                  <a:pt x="123919" y="163673"/>
                  <a:pt x="118683" y="166814"/>
                </a:cubicBezTo>
                <a:lnTo>
                  <a:pt x="86837" y="185914"/>
                </a:lnTo>
                <a:cubicBezTo>
                  <a:pt x="79146" y="190536"/>
                  <a:pt x="69325" y="184976"/>
                  <a:pt x="69325" y="176021"/>
                </a:cubicBezTo>
                <a:lnTo>
                  <a:pt x="69325" y="138650"/>
                </a:lnTo>
                <a:cubicBezTo>
                  <a:pt x="69325" y="125905"/>
                  <a:pt x="58963" y="115542"/>
                  <a:pt x="46217" y="115542"/>
                </a:cubicBezTo>
                <a:lnTo>
                  <a:pt x="46181" y="115542"/>
                </a:lnTo>
                <a:close/>
                <a:moveTo>
                  <a:pt x="144428" y="57771"/>
                </a:moveTo>
                <a:cubicBezTo>
                  <a:pt x="144428" y="48206"/>
                  <a:pt x="136662" y="40440"/>
                  <a:pt x="127096" y="40440"/>
                </a:cubicBezTo>
                <a:cubicBezTo>
                  <a:pt x="117531" y="40440"/>
                  <a:pt x="109765" y="48206"/>
                  <a:pt x="109765" y="57771"/>
                </a:cubicBezTo>
                <a:cubicBezTo>
                  <a:pt x="109765" y="67336"/>
                  <a:pt x="117531" y="75102"/>
                  <a:pt x="127096" y="75102"/>
                </a:cubicBezTo>
                <a:cubicBezTo>
                  <a:pt x="136662" y="75102"/>
                  <a:pt x="144428" y="67336"/>
                  <a:pt x="144428" y="5777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16599" y="2997969"/>
            <a:ext cx="2162948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Production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1997" y="3478624"/>
            <a:ext cx="4307409" cy="72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framework is designed for </a:t>
            </a:r>
            <a:r>
              <a:rPr lang="en-US" sz="1165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deployment</a:t>
            </a: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SOC environments, providing analysts with a systematic approach to threat assessment.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16956" y="2735455"/>
            <a:ext cx="4610591" cy="1652714"/>
          </a:xfrm>
          <a:custGeom>
            <a:avLst/>
            <a:gdLst/>
            <a:ahLst/>
            <a:cxnLst/>
            <a:rect l="l" t="t" r="r" b="b"/>
            <a:pathLst>
              <a:path w="4610591" h="1652714">
                <a:moveTo>
                  <a:pt x="73942" y="0"/>
                </a:moveTo>
                <a:lnTo>
                  <a:pt x="4536649" y="0"/>
                </a:lnTo>
                <a:cubicBezTo>
                  <a:pt x="4577486" y="0"/>
                  <a:pt x="4610591" y="33105"/>
                  <a:pt x="4610591" y="73942"/>
                </a:cubicBezTo>
                <a:lnTo>
                  <a:pt x="4610591" y="1578771"/>
                </a:lnTo>
                <a:cubicBezTo>
                  <a:pt x="4610591" y="1619609"/>
                  <a:pt x="4577486" y="1652714"/>
                  <a:pt x="4536649" y="1652714"/>
                </a:cubicBezTo>
                <a:lnTo>
                  <a:pt x="73942" y="1652714"/>
                </a:lnTo>
                <a:cubicBezTo>
                  <a:pt x="33105" y="1652714"/>
                  <a:pt x="0" y="1619609"/>
                  <a:pt x="0" y="1578771"/>
                </a:cubicBezTo>
                <a:lnTo>
                  <a:pt x="0" y="73942"/>
                </a:lnTo>
                <a:cubicBezTo>
                  <a:pt x="0" y="33132"/>
                  <a:pt x="33132" y="0"/>
                  <a:pt x="73942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10160">
            <a:solidFill>
              <a:srgbClr val="6C7A8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405520" y="2924022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110920" y="0"/>
                </a:moveTo>
                <a:lnTo>
                  <a:pt x="332761" y="0"/>
                </a:lnTo>
                <a:cubicBezTo>
                  <a:pt x="394021" y="0"/>
                  <a:pt x="443682" y="49661"/>
                  <a:pt x="443682" y="110920"/>
                </a:cubicBezTo>
                <a:lnTo>
                  <a:pt x="443682" y="332761"/>
                </a:lnTo>
                <a:cubicBezTo>
                  <a:pt x="443682" y="394021"/>
                  <a:pt x="394021" y="443682"/>
                  <a:pt x="332761" y="443682"/>
                </a:cubicBezTo>
                <a:lnTo>
                  <a:pt x="110920" y="443682"/>
                </a:lnTo>
                <a:cubicBezTo>
                  <a:pt x="49661" y="443682"/>
                  <a:pt x="0" y="394021"/>
                  <a:pt x="0" y="332761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511819" y="3053430"/>
            <a:ext cx="231084" cy="184867"/>
          </a:xfrm>
          <a:custGeom>
            <a:avLst/>
            <a:gdLst/>
            <a:ahLst/>
            <a:cxnLst/>
            <a:rect l="l" t="t" r="r" b="b"/>
            <a:pathLst>
              <a:path w="231084" h="184867">
                <a:moveTo>
                  <a:pt x="150169" y="76005"/>
                </a:moveTo>
                <a:cubicBezTo>
                  <a:pt x="154574" y="74813"/>
                  <a:pt x="159195" y="76908"/>
                  <a:pt x="161181" y="80988"/>
                </a:cubicBezTo>
                <a:lnTo>
                  <a:pt x="167897" y="94564"/>
                </a:lnTo>
                <a:cubicBezTo>
                  <a:pt x="171616" y="95069"/>
                  <a:pt x="175263" y="96080"/>
                  <a:pt x="178693" y="97489"/>
                </a:cubicBezTo>
                <a:lnTo>
                  <a:pt x="191330" y="89076"/>
                </a:lnTo>
                <a:cubicBezTo>
                  <a:pt x="195122" y="86548"/>
                  <a:pt x="200141" y="87054"/>
                  <a:pt x="203354" y="90267"/>
                </a:cubicBezTo>
                <a:lnTo>
                  <a:pt x="210287" y="97200"/>
                </a:lnTo>
                <a:cubicBezTo>
                  <a:pt x="213500" y="100413"/>
                  <a:pt x="214006" y="105468"/>
                  <a:pt x="211478" y="109223"/>
                </a:cubicBezTo>
                <a:lnTo>
                  <a:pt x="203065" y="121825"/>
                </a:lnTo>
                <a:cubicBezTo>
                  <a:pt x="203751" y="123522"/>
                  <a:pt x="204365" y="125291"/>
                  <a:pt x="204871" y="127132"/>
                </a:cubicBezTo>
                <a:cubicBezTo>
                  <a:pt x="205376" y="128974"/>
                  <a:pt x="205701" y="130779"/>
                  <a:pt x="205954" y="132621"/>
                </a:cubicBezTo>
                <a:lnTo>
                  <a:pt x="219566" y="139337"/>
                </a:lnTo>
                <a:cubicBezTo>
                  <a:pt x="223646" y="141359"/>
                  <a:pt x="225740" y="145980"/>
                  <a:pt x="224549" y="150349"/>
                </a:cubicBezTo>
                <a:lnTo>
                  <a:pt x="222021" y="159809"/>
                </a:lnTo>
                <a:cubicBezTo>
                  <a:pt x="220830" y="164178"/>
                  <a:pt x="216750" y="167139"/>
                  <a:pt x="212200" y="166850"/>
                </a:cubicBezTo>
                <a:lnTo>
                  <a:pt x="197035" y="165875"/>
                </a:lnTo>
                <a:cubicBezTo>
                  <a:pt x="194761" y="168800"/>
                  <a:pt x="192125" y="171508"/>
                  <a:pt x="189128" y="173819"/>
                </a:cubicBezTo>
                <a:lnTo>
                  <a:pt x="190103" y="188947"/>
                </a:lnTo>
                <a:cubicBezTo>
                  <a:pt x="190392" y="193497"/>
                  <a:pt x="187431" y="197613"/>
                  <a:pt x="183062" y="198768"/>
                </a:cubicBezTo>
                <a:lnTo>
                  <a:pt x="173602" y="201296"/>
                </a:lnTo>
                <a:cubicBezTo>
                  <a:pt x="169197" y="202487"/>
                  <a:pt x="164611" y="200393"/>
                  <a:pt x="162589" y="196313"/>
                </a:cubicBezTo>
                <a:lnTo>
                  <a:pt x="155873" y="182737"/>
                </a:lnTo>
                <a:cubicBezTo>
                  <a:pt x="152154" y="182232"/>
                  <a:pt x="148508" y="181221"/>
                  <a:pt x="145078" y="179812"/>
                </a:cubicBezTo>
                <a:lnTo>
                  <a:pt x="132440" y="188225"/>
                </a:lnTo>
                <a:cubicBezTo>
                  <a:pt x="128649" y="190753"/>
                  <a:pt x="123630" y="190247"/>
                  <a:pt x="120417" y="187034"/>
                </a:cubicBezTo>
                <a:lnTo>
                  <a:pt x="113484" y="180101"/>
                </a:lnTo>
                <a:cubicBezTo>
                  <a:pt x="110270" y="176888"/>
                  <a:pt x="109765" y="171869"/>
                  <a:pt x="112292" y="168078"/>
                </a:cubicBezTo>
                <a:lnTo>
                  <a:pt x="120705" y="155440"/>
                </a:lnTo>
                <a:cubicBezTo>
                  <a:pt x="120019" y="153743"/>
                  <a:pt x="119406" y="151974"/>
                  <a:pt x="118900" y="150132"/>
                </a:cubicBezTo>
                <a:cubicBezTo>
                  <a:pt x="118395" y="148291"/>
                  <a:pt x="118070" y="146450"/>
                  <a:pt x="117817" y="144644"/>
                </a:cubicBezTo>
                <a:lnTo>
                  <a:pt x="104205" y="137928"/>
                </a:lnTo>
                <a:cubicBezTo>
                  <a:pt x="100124" y="135906"/>
                  <a:pt x="98066" y="131285"/>
                  <a:pt x="99222" y="126916"/>
                </a:cubicBezTo>
                <a:lnTo>
                  <a:pt x="101749" y="117456"/>
                </a:lnTo>
                <a:cubicBezTo>
                  <a:pt x="102941" y="113087"/>
                  <a:pt x="107021" y="110126"/>
                  <a:pt x="111570" y="110415"/>
                </a:cubicBezTo>
                <a:lnTo>
                  <a:pt x="126699" y="111390"/>
                </a:lnTo>
                <a:cubicBezTo>
                  <a:pt x="128974" y="108465"/>
                  <a:pt x="131610" y="105757"/>
                  <a:pt x="134607" y="103446"/>
                </a:cubicBezTo>
                <a:lnTo>
                  <a:pt x="133632" y="88354"/>
                </a:lnTo>
                <a:cubicBezTo>
                  <a:pt x="133343" y="83804"/>
                  <a:pt x="136304" y="79688"/>
                  <a:pt x="140672" y="78533"/>
                </a:cubicBezTo>
                <a:lnTo>
                  <a:pt x="150132" y="76005"/>
                </a:lnTo>
                <a:close/>
                <a:moveTo>
                  <a:pt x="161903" y="122763"/>
                </a:moveTo>
                <a:cubicBezTo>
                  <a:pt x="153135" y="122773"/>
                  <a:pt x="146024" y="129900"/>
                  <a:pt x="146034" y="138669"/>
                </a:cubicBezTo>
                <a:cubicBezTo>
                  <a:pt x="146044" y="147437"/>
                  <a:pt x="153171" y="154547"/>
                  <a:pt x="161939" y="154538"/>
                </a:cubicBezTo>
                <a:cubicBezTo>
                  <a:pt x="170708" y="154528"/>
                  <a:pt x="177818" y="147401"/>
                  <a:pt x="177808" y="138632"/>
                </a:cubicBezTo>
                <a:cubicBezTo>
                  <a:pt x="177798" y="129864"/>
                  <a:pt x="170672" y="122753"/>
                  <a:pt x="161903" y="122763"/>
                </a:cubicBezTo>
                <a:close/>
                <a:moveTo>
                  <a:pt x="81204" y="-16429"/>
                </a:moveTo>
                <a:lnTo>
                  <a:pt x="90664" y="-13901"/>
                </a:lnTo>
                <a:cubicBezTo>
                  <a:pt x="95033" y="-12710"/>
                  <a:pt x="97994" y="-8593"/>
                  <a:pt x="97705" y="-4080"/>
                </a:cubicBezTo>
                <a:lnTo>
                  <a:pt x="96730" y="11013"/>
                </a:lnTo>
                <a:cubicBezTo>
                  <a:pt x="99727" y="13323"/>
                  <a:pt x="102363" y="15995"/>
                  <a:pt x="104638" y="18956"/>
                </a:cubicBezTo>
                <a:lnTo>
                  <a:pt x="119803" y="17981"/>
                </a:lnTo>
                <a:cubicBezTo>
                  <a:pt x="124316" y="17692"/>
                  <a:pt x="128432" y="20653"/>
                  <a:pt x="129624" y="25022"/>
                </a:cubicBezTo>
                <a:lnTo>
                  <a:pt x="132151" y="34482"/>
                </a:lnTo>
                <a:cubicBezTo>
                  <a:pt x="133307" y="38851"/>
                  <a:pt x="131249" y="43473"/>
                  <a:pt x="127168" y="45495"/>
                </a:cubicBezTo>
                <a:lnTo>
                  <a:pt x="113556" y="52211"/>
                </a:lnTo>
                <a:cubicBezTo>
                  <a:pt x="113303" y="54052"/>
                  <a:pt x="112942" y="55893"/>
                  <a:pt x="112473" y="57699"/>
                </a:cubicBezTo>
                <a:cubicBezTo>
                  <a:pt x="112004" y="59504"/>
                  <a:pt x="111354" y="61310"/>
                  <a:pt x="110668" y="63007"/>
                </a:cubicBezTo>
                <a:lnTo>
                  <a:pt x="119081" y="75644"/>
                </a:lnTo>
                <a:cubicBezTo>
                  <a:pt x="121608" y="79435"/>
                  <a:pt x="121103" y="84454"/>
                  <a:pt x="117889" y="87668"/>
                </a:cubicBezTo>
                <a:lnTo>
                  <a:pt x="110957" y="94600"/>
                </a:lnTo>
                <a:cubicBezTo>
                  <a:pt x="107743" y="97814"/>
                  <a:pt x="102724" y="98319"/>
                  <a:pt x="98933" y="95792"/>
                </a:cubicBezTo>
                <a:lnTo>
                  <a:pt x="86295" y="87379"/>
                </a:lnTo>
                <a:cubicBezTo>
                  <a:pt x="82865" y="88787"/>
                  <a:pt x="79219" y="89798"/>
                  <a:pt x="75500" y="90303"/>
                </a:cubicBezTo>
                <a:lnTo>
                  <a:pt x="68784" y="103880"/>
                </a:lnTo>
                <a:cubicBezTo>
                  <a:pt x="66762" y="107960"/>
                  <a:pt x="62140" y="110018"/>
                  <a:pt x="57771" y="108862"/>
                </a:cubicBezTo>
                <a:lnTo>
                  <a:pt x="48311" y="106335"/>
                </a:lnTo>
                <a:cubicBezTo>
                  <a:pt x="43906" y="105143"/>
                  <a:pt x="40981" y="101027"/>
                  <a:pt x="41270" y="96514"/>
                </a:cubicBezTo>
                <a:lnTo>
                  <a:pt x="42245" y="81385"/>
                </a:lnTo>
                <a:cubicBezTo>
                  <a:pt x="39248" y="79074"/>
                  <a:pt x="36612" y="76402"/>
                  <a:pt x="34338" y="73441"/>
                </a:cubicBezTo>
                <a:lnTo>
                  <a:pt x="19173" y="74416"/>
                </a:lnTo>
                <a:cubicBezTo>
                  <a:pt x="14659" y="74705"/>
                  <a:pt x="10543" y="71744"/>
                  <a:pt x="9352" y="67375"/>
                </a:cubicBezTo>
                <a:lnTo>
                  <a:pt x="6824" y="57915"/>
                </a:lnTo>
                <a:cubicBezTo>
                  <a:pt x="5669" y="53547"/>
                  <a:pt x="7727" y="48925"/>
                  <a:pt x="11807" y="46903"/>
                </a:cubicBezTo>
                <a:lnTo>
                  <a:pt x="25419" y="40187"/>
                </a:lnTo>
                <a:cubicBezTo>
                  <a:pt x="25672" y="38346"/>
                  <a:pt x="26033" y="36540"/>
                  <a:pt x="26502" y="34699"/>
                </a:cubicBezTo>
                <a:cubicBezTo>
                  <a:pt x="27008" y="32857"/>
                  <a:pt x="27586" y="31088"/>
                  <a:pt x="28308" y="29391"/>
                </a:cubicBezTo>
                <a:lnTo>
                  <a:pt x="19895" y="16790"/>
                </a:lnTo>
                <a:cubicBezTo>
                  <a:pt x="17367" y="12998"/>
                  <a:pt x="17873" y="7980"/>
                  <a:pt x="21086" y="4766"/>
                </a:cubicBezTo>
                <a:lnTo>
                  <a:pt x="28019" y="-2166"/>
                </a:lnTo>
                <a:cubicBezTo>
                  <a:pt x="31232" y="-5380"/>
                  <a:pt x="36251" y="-5885"/>
                  <a:pt x="40043" y="-3358"/>
                </a:cubicBezTo>
                <a:lnTo>
                  <a:pt x="52680" y="5055"/>
                </a:lnTo>
                <a:cubicBezTo>
                  <a:pt x="56110" y="3647"/>
                  <a:pt x="59757" y="2636"/>
                  <a:pt x="63476" y="2130"/>
                </a:cubicBezTo>
                <a:lnTo>
                  <a:pt x="70192" y="-11446"/>
                </a:lnTo>
                <a:cubicBezTo>
                  <a:pt x="72214" y="-15526"/>
                  <a:pt x="76799" y="-17584"/>
                  <a:pt x="81204" y="-16429"/>
                </a:cubicBezTo>
                <a:close/>
                <a:moveTo>
                  <a:pt x="69470" y="30330"/>
                </a:moveTo>
                <a:cubicBezTo>
                  <a:pt x="60701" y="30330"/>
                  <a:pt x="53583" y="37449"/>
                  <a:pt x="53583" y="46217"/>
                </a:cubicBezTo>
                <a:cubicBezTo>
                  <a:pt x="53583" y="54985"/>
                  <a:pt x="60701" y="62104"/>
                  <a:pt x="69470" y="62104"/>
                </a:cubicBezTo>
                <a:cubicBezTo>
                  <a:pt x="78238" y="62104"/>
                  <a:pt x="85357" y="54985"/>
                  <a:pt x="85357" y="46217"/>
                </a:cubicBezTo>
                <a:cubicBezTo>
                  <a:pt x="85357" y="37449"/>
                  <a:pt x="78238" y="30330"/>
                  <a:pt x="69470" y="3033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960122" y="2997969"/>
            <a:ext cx="233857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Customization Options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05520" y="3478624"/>
            <a:ext cx="4307409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can </a:t>
            </a:r>
            <a:r>
              <a:rPr lang="en-US" sz="1165" b="1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thresholds</a:t>
            </a: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risk tolerance and integrate with existing security orchestration platforms.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3432" y="4691352"/>
            <a:ext cx="9454115" cy="1819094"/>
          </a:xfrm>
          <a:custGeom>
            <a:avLst/>
            <a:gdLst/>
            <a:ahLst/>
            <a:cxnLst/>
            <a:rect l="l" t="t" r="r" b="b"/>
            <a:pathLst>
              <a:path w="9454115" h="1819094">
                <a:moveTo>
                  <a:pt x="73946" y="0"/>
                </a:moveTo>
                <a:lnTo>
                  <a:pt x="9380169" y="0"/>
                </a:lnTo>
                <a:cubicBezTo>
                  <a:pt x="9421008" y="0"/>
                  <a:pt x="9454115" y="33107"/>
                  <a:pt x="9454115" y="73946"/>
                </a:cubicBezTo>
                <a:lnTo>
                  <a:pt x="9454115" y="1745148"/>
                </a:lnTo>
                <a:cubicBezTo>
                  <a:pt x="9454115" y="1785988"/>
                  <a:pt x="9421008" y="1819094"/>
                  <a:pt x="9380169" y="1819094"/>
                </a:cubicBezTo>
                <a:lnTo>
                  <a:pt x="73946" y="1819094"/>
                </a:lnTo>
                <a:cubicBezTo>
                  <a:pt x="33107" y="1819094"/>
                  <a:pt x="0" y="1785988"/>
                  <a:pt x="0" y="1745148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gradFill flip="none" rotWithShape="1">
            <a:gsLst>
              <a:gs pos="0">
                <a:srgbClr val="6C7A89">
                  <a:alpha val="30000"/>
                </a:srgbClr>
              </a:gs>
              <a:gs pos="100000">
                <a:srgbClr val="4A5462">
                  <a:alpha val="20000"/>
                </a:srgbClr>
              </a:gs>
            </a:gsLst>
            <a:lin ang="0" scaled="1"/>
          </a:gradFill>
          <a:ln w="10160">
            <a:solidFill>
              <a:srgbClr val="98A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15780" y="4879920"/>
            <a:ext cx="91694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98A6B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Implementation Areas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742606" y="528662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890500" y="5434522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109794" y="1257"/>
                </a:moveTo>
                <a:cubicBezTo>
                  <a:pt x="107974" y="433"/>
                  <a:pt x="106024" y="0"/>
                  <a:pt x="103988" y="0"/>
                </a:cubicBezTo>
                <a:cubicBezTo>
                  <a:pt x="101951" y="0"/>
                  <a:pt x="100002" y="433"/>
                  <a:pt x="98182" y="1257"/>
                </a:cubicBezTo>
                <a:lnTo>
                  <a:pt x="16595" y="35876"/>
                </a:lnTo>
                <a:cubicBezTo>
                  <a:pt x="7063" y="39905"/>
                  <a:pt x="-43" y="49308"/>
                  <a:pt x="0" y="60660"/>
                </a:cubicBezTo>
                <a:cubicBezTo>
                  <a:pt x="217" y="103641"/>
                  <a:pt x="17895" y="182282"/>
                  <a:pt x="92549" y="218028"/>
                </a:cubicBezTo>
                <a:cubicBezTo>
                  <a:pt x="99785" y="221494"/>
                  <a:pt x="108191" y="221494"/>
                  <a:pt x="115427" y="218028"/>
                </a:cubicBezTo>
                <a:cubicBezTo>
                  <a:pt x="190124" y="182282"/>
                  <a:pt x="207802" y="103641"/>
                  <a:pt x="207976" y="60660"/>
                </a:cubicBezTo>
                <a:cubicBezTo>
                  <a:pt x="208019" y="49308"/>
                  <a:pt x="200913" y="39905"/>
                  <a:pt x="191381" y="35876"/>
                </a:cubicBezTo>
                <a:lnTo>
                  <a:pt x="109794" y="1257"/>
                </a:lnTo>
                <a:close/>
                <a:moveTo>
                  <a:pt x="103988" y="55460"/>
                </a:moveTo>
                <a:cubicBezTo>
                  <a:pt x="109751" y="55460"/>
                  <a:pt x="114387" y="60096"/>
                  <a:pt x="114387" y="65859"/>
                </a:cubicBezTo>
                <a:cubicBezTo>
                  <a:pt x="114387" y="75781"/>
                  <a:pt x="126389" y="80764"/>
                  <a:pt x="133408" y="73745"/>
                </a:cubicBezTo>
                <a:cubicBezTo>
                  <a:pt x="137481" y="69672"/>
                  <a:pt x="144067" y="69672"/>
                  <a:pt x="148096" y="73745"/>
                </a:cubicBezTo>
                <a:cubicBezTo>
                  <a:pt x="152126" y="77818"/>
                  <a:pt x="152169" y="84403"/>
                  <a:pt x="148096" y="88433"/>
                </a:cubicBezTo>
                <a:cubicBezTo>
                  <a:pt x="141077" y="95452"/>
                  <a:pt x="146060" y="107454"/>
                  <a:pt x="155982" y="107454"/>
                </a:cubicBezTo>
                <a:cubicBezTo>
                  <a:pt x="161744" y="107454"/>
                  <a:pt x="166381" y="112090"/>
                  <a:pt x="166381" y="117853"/>
                </a:cubicBezTo>
                <a:cubicBezTo>
                  <a:pt x="166381" y="123616"/>
                  <a:pt x="161744" y="128252"/>
                  <a:pt x="155982" y="128252"/>
                </a:cubicBezTo>
                <a:cubicBezTo>
                  <a:pt x="146060" y="128252"/>
                  <a:pt x="141077" y="140254"/>
                  <a:pt x="148096" y="147273"/>
                </a:cubicBezTo>
                <a:cubicBezTo>
                  <a:pt x="152169" y="151346"/>
                  <a:pt x="152169" y="157932"/>
                  <a:pt x="148096" y="161961"/>
                </a:cubicBezTo>
                <a:cubicBezTo>
                  <a:pt x="144023" y="165991"/>
                  <a:pt x="137437" y="166034"/>
                  <a:pt x="133408" y="161961"/>
                </a:cubicBezTo>
                <a:cubicBezTo>
                  <a:pt x="126389" y="154942"/>
                  <a:pt x="114387" y="159925"/>
                  <a:pt x="114387" y="169847"/>
                </a:cubicBezTo>
                <a:cubicBezTo>
                  <a:pt x="114387" y="175610"/>
                  <a:pt x="109751" y="180246"/>
                  <a:pt x="103988" y="180246"/>
                </a:cubicBezTo>
                <a:cubicBezTo>
                  <a:pt x="98225" y="180246"/>
                  <a:pt x="93589" y="175610"/>
                  <a:pt x="93589" y="169847"/>
                </a:cubicBezTo>
                <a:cubicBezTo>
                  <a:pt x="93589" y="159925"/>
                  <a:pt x="81587" y="154942"/>
                  <a:pt x="74568" y="161961"/>
                </a:cubicBezTo>
                <a:cubicBezTo>
                  <a:pt x="70495" y="166034"/>
                  <a:pt x="63909" y="166034"/>
                  <a:pt x="59880" y="161961"/>
                </a:cubicBezTo>
                <a:cubicBezTo>
                  <a:pt x="55850" y="157888"/>
                  <a:pt x="55807" y="151302"/>
                  <a:pt x="59880" y="147273"/>
                </a:cubicBezTo>
                <a:cubicBezTo>
                  <a:pt x="66899" y="140254"/>
                  <a:pt x="61916" y="128252"/>
                  <a:pt x="51994" y="128252"/>
                </a:cubicBezTo>
                <a:cubicBezTo>
                  <a:pt x="46231" y="128252"/>
                  <a:pt x="41595" y="123616"/>
                  <a:pt x="41595" y="117853"/>
                </a:cubicBezTo>
                <a:cubicBezTo>
                  <a:pt x="41595" y="112090"/>
                  <a:pt x="46231" y="107454"/>
                  <a:pt x="51994" y="107454"/>
                </a:cubicBezTo>
                <a:cubicBezTo>
                  <a:pt x="61916" y="107454"/>
                  <a:pt x="66899" y="95452"/>
                  <a:pt x="59880" y="88433"/>
                </a:cubicBezTo>
                <a:cubicBezTo>
                  <a:pt x="55807" y="84360"/>
                  <a:pt x="55807" y="77774"/>
                  <a:pt x="59880" y="73745"/>
                </a:cubicBezTo>
                <a:cubicBezTo>
                  <a:pt x="63953" y="69715"/>
                  <a:pt x="70538" y="69672"/>
                  <a:pt x="74568" y="73745"/>
                </a:cubicBezTo>
                <a:cubicBezTo>
                  <a:pt x="81587" y="80764"/>
                  <a:pt x="93589" y="75781"/>
                  <a:pt x="93589" y="65859"/>
                </a:cubicBezTo>
                <a:cubicBezTo>
                  <a:pt x="93589" y="60096"/>
                  <a:pt x="98225" y="55460"/>
                  <a:pt x="103988" y="55460"/>
                </a:cubicBezTo>
                <a:close/>
                <a:moveTo>
                  <a:pt x="90123" y="114387"/>
                </a:moveTo>
                <a:cubicBezTo>
                  <a:pt x="95862" y="114387"/>
                  <a:pt x="100522" y="109727"/>
                  <a:pt x="100522" y="103988"/>
                </a:cubicBezTo>
                <a:cubicBezTo>
                  <a:pt x="100522" y="98249"/>
                  <a:pt x="95862" y="93589"/>
                  <a:pt x="90123" y="93589"/>
                </a:cubicBezTo>
                <a:cubicBezTo>
                  <a:pt x="84384" y="93589"/>
                  <a:pt x="79724" y="98249"/>
                  <a:pt x="79724" y="103988"/>
                </a:cubicBezTo>
                <a:cubicBezTo>
                  <a:pt x="79724" y="109727"/>
                  <a:pt x="84384" y="114387"/>
                  <a:pt x="90123" y="114387"/>
                </a:cubicBezTo>
                <a:close/>
                <a:moveTo>
                  <a:pt x="128252" y="131718"/>
                </a:moveTo>
                <a:cubicBezTo>
                  <a:pt x="128252" y="125979"/>
                  <a:pt x="123592" y="121319"/>
                  <a:pt x="117853" y="121319"/>
                </a:cubicBezTo>
                <a:cubicBezTo>
                  <a:pt x="112114" y="121319"/>
                  <a:pt x="107454" y="125979"/>
                  <a:pt x="107454" y="131718"/>
                </a:cubicBezTo>
                <a:cubicBezTo>
                  <a:pt x="107454" y="137457"/>
                  <a:pt x="112114" y="142117"/>
                  <a:pt x="117853" y="142117"/>
                </a:cubicBezTo>
                <a:cubicBezTo>
                  <a:pt x="123592" y="142117"/>
                  <a:pt x="128252" y="137457"/>
                  <a:pt x="128252" y="13171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25023" y="5878203"/>
            <a:ext cx="294863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Protection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9645" y="6137017"/>
            <a:ext cx="293939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file scoring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43408" y="528662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977437" y="543452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107454" y="38129"/>
                </a:moveTo>
                <a:lnTo>
                  <a:pt x="142117" y="38129"/>
                </a:lnTo>
                <a:lnTo>
                  <a:pt x="142117" y="58926"/>
                </a:lnTo>
                <a:lnTo>
                  <a:pt x="107454" y="58926"/>
                </a:lnTo>
                <a:lnTo>
                  <a:pt x="107454" y="38129"/>
                </a:lnTo>
                <a:close/>
                <a:moveTo>
                  <a:pt x="103988" y="13865"/>
                </a:moveTo>
                <a:cubicBezTo>
                  <a:pt x="92506" y="13865"/>
                  <a:pt x="83190" y="23181"/>
                  <a:pt x="83190" y="34663"/>
                </a:cubicBezTo>
                <a:lnTo>
                  <a:pt x="83190" y="62393"/>
                </a:lnTo>
                <a:cubicBezTo>
                  <a:pt x="83190" y="73875"/>
                  <a:pt x="92506" y="83190"/>
                  <a:pt x="103988" y="83190"/>
                </a:cubicBezTo>
                <a:lnTo>
                  <a:pt x="110920" y="83190"/>
                </a:lnTo>
                <a:lnTo>
                  <a:pt x="110920" y="97055"/>
                </a:lnTo>
                <a:lnTo>
                  <a:pt x="13865" y="97055"/>
                </a:lnTo>
                <a:cubicBezTo>
                  <a:pt x="6196" y="97055"/>
                  <a:pt x="0" y="103251"/>
                  <a:pt x="0" y="110920"/>
                </a:cubicBezTo>
                <a:cubicBezTo>
                  <a:pt x="0" y="118589"/>
                  <a:pt x="6196" y="124785"/>
                  <a:pt x="13865" y="124785"/>
                </a:cubicBezTo>
                <a:lnTo>
                  <a:pt x="55460" y="124785"/>
                </a:lnTo>
                <a:lnTo>
                  <a:pt x="55460" y="138650"/>
                </a:lnTo>
                <a:lnTo>
                  <a:pt x="48528" y="138650"/>
                </a:lnTo>
                <a:cubicBezTo>
                  <a:pt x="37046" y="138650"/>
                  <a:pt x="27730" y="147966"/>
                  <a:pt x="27730" y="159448"/>
                </a:cubicBezTo>
                <a:lnTo>
                  <a:pt x="27730" y="187178"/>
                </a:lnTo>
                <a:cubicBezTo>
                  <a:pt x="27730" y="198660"/>
                  <a:pt x="37046" y="207976"/>
                  <a:pt x="48528" y="207976"/>
                </a:cubicBezTo>
                <a:lnTo>
                  <a:pt x="90123" y="207976"/>
                </a:lnTo>
                <a:cubicBezTo>
                  <a:pt x="101605" y="207976"/>
                  <a:pt x="110920" y="198660"/>
                  <a:pt x="110920" y="187178"/>
                </a:cubicBezTo>
                <a:lnTo>
                  <a:pt x="110920" y="159448"/>
                </a:lnTo>
                <a:cubicBezTo>
                  <a:pt x="110920" y="147966"/>
                  <a:pt x="101605" y="138650"/>
                  <a:pt x="90123" y="138650"/>
                </a:cubicBezTo>
                <a:lnTo>
                  <a:pt x="83190" y="138650"/>
                </a:lnTo>
                <a:lnTo>
                  <a:pt x="83190" y="124785"/>
                </a:lnTo>
                <a:lnTo>
                  <a:pt x="166381" y="124785"/>
                </a:lnTo>
                <a:lnTo>
                  <a:pt x="166381" y="138650"/>
                </a:lnTo>
                <a:lnTo>
                  <a:pt x="159448" y="138650"/>
                </a:lnTo>
                <a:cubicBezTo>
                  <a:pt x="147966" y="138650"/>
                  <a:pt x="138650" y="147966"/>
                  <a:pt x="138650" y="159448"/>
                </a:cubicBezTo>
                <a:lnTo>
                  <a:pt x="138650" y="187178"/>
                </a:lnTo>
                <a:cubicBezTo>
                  <a:pt x="138650" y="198660"/>
                  <a:pt x="147966" y="207976"/>
                  <a:pt x="159448" y="207976"/>
                </a:cubicBezTo>
                <a:lnTo>
                  <a:pt x="201043" y="207976"/>
                </a:lnTo>
                <a:cubicBezTo>
                  <a:pt x="212525" y="207976"/>
                  <a:pt x="221841" y="198660"/>
                  <a:pt x="221841" y="187178"/>
                </a:cubicBezTo>
                <a:lnTo>
                  <a:pt x="221841" y="159448"/>
                </a:lnTo>
                <a:cubicBezTo>
                  <a:pt x="221841" y="147966"/>
                  <a:pt x="212525" y="138650"/>
                  <a:pt x="201043" y="138650"/>
                </a:cubicBezTo>
                <a:lnTo>
                  <a:pt x="194111" y="138650"/>
                </a:lnTo>
                <a:lnTo>
                  <a:pt x="194111" y="124785"/>
                </a:lnTo>
                <a:lnTo>
                  <a:pt x="235706" y="124785"/>
                </a:lnTo>
                <a:cubicBezTo>
                  <a:pt x="243375" y="124785"/>
                  <a:pt x="249571" y="118589"/>
                  <a:pt x="249571" y="110920"/>
                </a:cubicBezTo>
                <a:cubicBezTo>
                  <a:pt x="249571" y="103251"/>
                  <a:pt x="243375" y="97055"/>
                  <a:pt x="235706" y="97055"/>
                </a:cubicBezTo>
                <a:lnTo>
                  <a:pt x="138650" y="97055"/>
                </a:lnTo>
                <a:lnTo>
                  <a:pt x="138650" y="83190"/>
                </a:lnTo>
                <a:lnTo>
                  <a:pt x="145583" y="83190"/>
                </a:lnTo>
                <a:cubicBezTo>
                  <a:pt x="157065" y="83190"/>
                  <a:pt x="166381" y="73875"/>
                  <a:pt x="166381" y="62393"/>
                </a:cubicBezTo>
                <a:lnTo>
                  <a:pt x="166381" y="34663"/>
                </a:lnTo>
                <a:cubicBezTo>
                  <a:pt x="166381" y="23181"/>
                  <a:pt x="157065" y="13865"/>
                  <a:pt x="145583" y="13865"/>
                </a:cubicBezTo>
                <a:lnTo>
                  <a:pt x="103988" y="13865"/>
                </a:lnTo>
                <a:close/>
                <a:moveTo>
                  <a:pt x="194111" y="162914"/>
                </a:moveTo>
                <a:lnTo>
                  <a:pt x="197577" y="162914"/>
                </a:lnTo>
                <a:lnTo>
                  <a:pt x="197577" y="183712"/>
                </a:lnTo>
                <a:lnTo>
                  <a:pt x="162914" y="183712"/>
                </a:lnTo>
                <a:lnTo>
                  <a:pt x="162914" y="162914"/>
                </a:lnTo>
                <a:lnTo>
                  <a:pt x="194111" y="162914"/>
                </a:lnTo>
                <a:close/>
                <a:moveTo>
                  <a:pt x="83190" y="162914"/>
                </a:moveTo>
                <a:lnTo>
                  <a:pt x="86657" y="162914"/>
                </a:lnTo>
                <a:lnTo>
                  <a:pt x="86657" y="183712"/>
                </a:lnTo>
                <a:lnTo>
                  <a:pt x="51994" y="183712"/>
                </a:lnTo>
                <a:lnTo>
                  <a:pt x="51994" y="162914"/>
                </a:lnTo>
                <a:lnTo>
                  <a:pt x="83190" y="16291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3625826" y="5878203"/>
            <a:ext cx="294863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630448" y="6137017"/>
            <a:ext cx="293939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inspection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944327" y="528662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C7A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8106086" y="5434522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124785" y="0"/>
                </a:moveTo>
                <a:lnTo>
                  <a:pt x="55460" y="0"/>
                </a:lnTo>
                <a:cubicBezTo>
                  <a:pt x="47791" y="0"/>
                  <a:pt x="41595" y="6196"/>
                  <a:pt x="41595" y="13865"/>
                </a:cubicBezTo>
                <a:cubicBezTo>
                  <a:pt x="41595" y="21534"/>
                  <a:pt x="47791" y="27730"/>
                  <a:pt x="55460" y="27730"/>
                </a:cubicBezTo>
                <a:lnTo>
                  <a:pt x="55460" y="93372"/>
                </a:lnTo>
                <a:lnTo>
                  <a:pt x="3250" y="184708"/>
                </a:lnTo>
                <a:cubicBezTo>
                  <a:pt x="1127" y="188478"/>
                  <a:pt x="0" y="192681"/>
                  <a:pt x="0" y="197014"/>
                </a:cubicBezTo>
                <a:cubicBezTo>
                  <a:pt x="0" y="210749"/>
                  <a:pt x="11092" y="221841"/>
                  <a:pt x="24827" y="221841"/>
                </a:cubicBezTo>
                <a:lnTo>
                  <a:pt x="169284" y="221841"/>
                </a:lnTo>
                <a:cubicBezTo>
                  <a:pt x="182975" y="221841"/>
                  <a:pt x="194111" y="210749"/>
                  <a:pt x="194111" y="197014"/>
                </a:cubicBezTo>
                <a:cubicBezTo>
                  <a:pt x="194111" y="192681"/>
                  <a:pt x="192984" y="188435"/>
                  <a:pt x="190861" y="184708"/>
                </a:cubicBezTo>
                <a:lnTo>
                  <a:pt x="138650" y="93372"/>
                </a:lnTo>
                <a:lnTo>
                  <a:pt x="138650" y="27730"/>
                </a:lnTo>
                <a:cubicBezTo>
                  <a:pt x="146320" y="27730"/>
                  <a:pt x="152516" y="21534"/>
                  <a:pt x="152516" y="13865"/>
                </a:cubicBezTo>
                <a:cubicBezTo>
                  <a:pt x="152516" y="6196"/>
                  <a:pt x="146320" y="0"/>
                  <a:pt x="138650" y="0"/>
                </a:cubicBezTo>
                <a:lnTo>
                  <a:pt x="124785" y="0"/>
                </a:lnTo>
                <a:close/>
                <a:moveTo>
                  <a:pt x="83190" y="93372"/>
                </a:moveTo>
                <a:lnTo>
                  <a:pt x="83190" y="27730"/>
                </a:lnTo>
                <a:lnTo>
                  <a:pt x="110920" y="27730"/>
                </a:lnTo>
                <a:lnTo>
                  <a:pt x="110920" y="93372"/>
                </a:lnTo>
                <a:cubicBezTo>
                  <a:pt x="110920" y="98182"/>
                  <a:pt x="112177" y="102948"/>
                  <a:pt x="114560" y="107151"/>
                </a:cubicBezTo>
                <a:lnTo>
                  <a:pt x="132585" y="138650"/>
                </a:lnTo>
                <a:lnTo>
                  <a:pt x="61526" y="138650"/>
                </a:lnTo>
                <a:lnTo>
                  <a:pt x="79551" y="107151"/>
                </a:lnTo>
                <a:cubicBezTo>
                  <a:pt x="81934" y="102948"/>
                  <a:pt x="83190" y="98225"/>
                  <a:pt x="83190" y="9337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726629" y="5878203"/>
            <a:ext cx="294863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Malware Analysis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31251" y="6137017"/>
            <a:ext cx="293939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triage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23518" y="6809933"/>
            <a:ext cx="1154496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98A6B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threat assessment through multi-factor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Widescreen</PresentationFormat>
  <Paragraphs>327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Quattrocento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Score Calculation</dc:title>
  <dc:subject>Threat Score Calculation</dc:subject>
  <dc:creator>Kimi</dc:creator>
  <cp:lastModifiedBy>Chanaka Nanayakkara</cp:lastModifiedBy>
  <cp:revision>1</cp:revision>
  <dcterms:created xsi:type="dcterms:W3CDTF">2026-01-16T14:54:39Z</dcterms:created>
  <dcterms:modified xsi:type="dcterms:W3CDTF">2026-01-16T14:55:07Z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{"Label":"Threat Score Calculation","ContentProducer":"001191110108MACG2KBH8F10000","ProduceID":"19bc74a9-4e82-8855-8000-0000a3aa4ba8","ReservedCode1":"","ContentPropagator":"001191110108MACG2KBH8F20000","PropagateID":"19bc74a9-4e82-8855-8000-0000a3aa4ba8","ReservedCode2":""}</vt:lpwstr>
  </property>
</Properties>
</file>